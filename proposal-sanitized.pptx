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F7"/>
    <a:srgbClr val="F8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424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18288" cy="1645920"/>
          </a:xfrm>
          <a:prstGeom prst="rect">
            <a:avLst/>
          </a:prstGeom>
          <a:noFill/>
          <a:ln w="6350">
            <a:solidFill>
              <a:srgbClr val="1F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207008" cy="18288"/>
          </a:xfrm>
          <a:prstGeom prst="rect">
            <a:avLst/>
          </a:prstGeom>
          <a:noFill/>
          <a:ln w="6350">
            <a:solidFill>
              <a:srgbClr val="1F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800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[COMPANY]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Hotel's Advanced AI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54864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 xml:space="preserve">Proposta </a:t>
            </a:r>
            <a:r>
              <a:rPr lang="en-US" sz="1400" kern="0" spc="200" dirty="0" err="1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Operativa</a:t>
            </a:r>
            <a:r>
              <a:rPr lang="en-US" sz="14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 xml:space="preserve"> per  [Me]  ·  Marzo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 xml:space="preserve">Founder A &amp; Founder B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F2D3D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STRETTAMENTE CONFIDENZIALE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[COMPANY]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BRAND MANIFESTO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premium hotel carries a story that no algorithm has ever told.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D8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Its guests leave traces — in reviews written at midnight, in booking patterns that shift with the seasons, in the silence between a five-star rating and the paragraph that follows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0" y="2834640"/>
            <a:ext cx="9144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[Company] reads those traces. It listens across six languages, four platforms, and every competitive signal in the market. It decides what matters. Then it builds the commercial assets — the pages, the campaigns, the multilingual briefs — ready for the one person who will bring them to life.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AI reads. The hotel decides. The story is yours.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VISUAL IDENTITY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Mediterranean Direction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D8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Warm, precise, rooted in European hospitality craft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COLOUR PALETTE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371600" cy="82296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[Company] Ink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#1B2838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828800"/>
            <a:ext cx="1371600" cy="822960"/>
          </a:xfrm>
          <a:prstGeom prst="rect">
            <a:avLst/>
          </a:prstGeom>
          <a:solidFill>
            <a:srgbClr val="EEF2F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#EEF2F7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1828800"/>
            <a:ext cx="1371600" cy="822960"/>
          </a:xfrm>
          <a:prstGeom prst="rect">
            <a:avLst/>
          </a:prstGeom>
          <a:solidFill>
            <a:srgbClr val="4A7FA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Steel Blue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#4A7FA0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0" y="1828800"/>
            <a:ext cx="1371600" cy="822960"/>
          </a:xfrm>
          <a:prstGeom prst="rect">
            <a:avLst/>
          </a:prstGeom>
          <a:solidFill>
            <a:srgbClr val="2C5F7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Deep Steel Blue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#2C5F7C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0"/>
            <a:ext cx="1371600" cy="822960"/>
          </a:xfrm>
          <a:prstGeom prst="rect">
            <a:avLst/>
          </a:prstGeom>
          <a:solidFill>
            <a:srgbClr val="5B8BA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Coastal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#5B8BA0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TYPOGRAPHY SYSTEM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3840480" cy="118872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Cormorant Garamond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DISPLAY  ·  Headlines  ·  Manifesto  ·  Quotes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Aa Bb Cc — Fine, elegant, Mediterranean character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DIDACT GOTHIC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LABELS  ·  UI  ·  Captions  ·  Data  ·  All-Caps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7C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Precise · Neutral · Functional · Modern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TONE OF VOICE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 speak like a very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good concierge.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128016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PRECISE, NEVER COLD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We cite data. We name the hotel. We name the guest. Every sentence earns its place. But precision without warmth is a spreadsheet — we are never a spreadsheet.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3840480" cy="128016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ELEGANT, NEVER VERBOSE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We say one thing well rather than three things passably. We prefer the sentence that lands to the paragraph that explains. Luxury is compression.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840480" cy="128016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CONFIDENT, NEVER ARROGANT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We make a recommendation. We do not hedge. We do not say you might consider — we say this month, lead with the wellness angle.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3840480" cy="128016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DATA-LED, STORY-TOLD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Numbers are the spine, not the skin. We translate intelligence into language that a GM can read in 90 seconds and act on before the next check-in.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POSITIONING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For premium hotels who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have lost control of their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own story.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9144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029200" cy="128016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THE POSITIONING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[Company] is the only vertical AI platform built exclusively for premium hospitality properties. We turn raw commercial intelligence into multilingual content and strategic decisions — in the time it takes to read a brief.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Every signal, every market, every guest.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Activation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Decisions ranked. Priorities clear.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Multilingual assets, ready to publish.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</a:t>
            </a:r>
            <a:endParaRPr lang="en-US" sz="8000" dirty="0"/>
          </a:p>
          <a:p>
            <a:pPr marL="0" indent="0">
              <a:buNone/>
            </a:pPr>
            <a:r>
              <a:rPr lang="en-US" sz="8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Opportunity.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45720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March 2026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moment is now.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0" y="1051560"/>
            <a:ext cx="9144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is reshaping how travelers discover and choose hotels. Most premium properties are invisible in this new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" cy="59436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of travelers now use AI to plan trips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2402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BCG / NYU, March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6576" cy="59436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of hotel citations in AI answers come from OTAs — not the hotel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017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Cloudbeds Study 2026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6576" cy="59436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€1.3B+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global TAM in premium hotel commercial AI — no vertical leader yet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794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Bottom-up TAM analysis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36576" cy="59436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person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56032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handles all marketing for a hotel doing €15–70M in revenue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45720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Industry average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Hotels are losing control of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their story at the moment it matters.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635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ONE PERSON · EVERY CHANNEL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560320" cy="18288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Marketing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team of one.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 hotel doing €15–70M runs its entire marketing on one person. Instagram, OTAs, website, TV screens, press — in two or three languages. Every day.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OTAs OWN THE AI LAYER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560320" cy="18288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55% of AI hotel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citations: OTAs.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When a traveler asks ChatGPT where to stay, the OTA answers. The hotel is invisible at exactly the moment the booking decision is made.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GENERIC AGENCY OUTPUT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560320" cy="18288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€3–8K/mo.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Same brief. Always.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Agencies deliver monolingual, late, one-size-fits-all content. No guest intelligence. No competitive context. No property-level story.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7-layer commercial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stack.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Built for one property at a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[Company] reads every signal about your hotel and its guests, decides what matters this month, and produces multilingual commercial assets — ready to publish.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931920" cy="9144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4864" cy="9144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AI reads, analyzes, and drafts.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hotel directs, approves, and publishes.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"/>
            <a:ext cx="3931920" cy="548640"/>
          </a:xfrm>
          <a:prstGeom prst="rect">
            <a:avLst/>
          </a:prstGeom>
          <a:solidFill>
            <a:srgbClr val="EEF2F7"/>
          </a:solidFill>
          <a:ln w="381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28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2651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Market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5029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Comp set pricing, events, booking windows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868680"/>
            <a:ext cx="3931920" cy="548640"/>
          </a:xfrm>
          <a:prstGeom prst="rect">
            <a:avLst/>
          </a:prstGeom>
          <a:solidFill>
            <a:srgbClr val="EDE5D8"/>
          </a:solidFill>
          <a:ln w="381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868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9052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Voice of Customer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1430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Reviews: 6 languages · 4 platforms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931920" cy="548640"/>
          </a:xfrm>
          <a:prstGeom prst="rect">
            <a:avLst/>
          </a:prstGeom>
          <a:solidFill>
            <a:srgbClr val="EEF2F7"/>
          </a:solidFill>
          <a:ln w="381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5453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Persona &amp; Intent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17830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Who books, why, what they expect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48840"/>
            <a:ext cx="3931920" cy="548640"/>
          </a:xfrm>
          <a:prstGeom prst="rect">
            <a:avLst/>
          </a:prstGeom>
          <a:solidFill>
            <a:srgbClr val="EDE5D8"/>
          </a:solidFill>
          <a:ln w="381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1854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Competitive Reading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24231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Your hotel vs comp set, through guest eyes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788920"/>
            <a:ext cx="3931920" cy="548640"/>
          </a:xfrm>
          <a:prstGeom prst="rect">
            <a:avLst/>
          </a:prstGeom>
          <a:solidFill>
            <a:srgbClr val="EEF2F7"/>
          </a:solidFill>
          <a:ln w="381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8254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Discovery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30632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How ChatGPT / Gemini / Perplexity see you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429000"/>
            <a:ext cx="3931920" cy="548640"/>
          </a:xfrm>
          <a:prstGeom prst="rect">
            <a:avLst/>
          </a:prstGeom>
          <a:solidFill>
            <a:srgbClr val="EDE5D8"/>
          </a:solidFill>
          <a:ln w="381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4655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Decision Engine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7033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What matters this month, ranked by ROI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4069080"/>
            <a:ext cx="3931920" cy="548640"/>
          </a:xfrm>
          <a:prstGeom prst="rect">
            <a:avLst/>
          </a:prstGeom>
          <a:solidFill>
            <a:srgbClr val="4A7FA0"/>
          </a:solidFill>
          <a:ln w="381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40680" y="4105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Content Engine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43434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Multilingual assets — ready to publish</a:t>
            </a:r>
            <a:endParaRPr lang="en-US" sz="900" dirty="0">
              <a:solidFill>
                <a:srgbClr val="EEF2F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SaaS per-hotel.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Land-and-expand.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3291840"/>
          </a:xfrm>
          <a:prstGeom prst="rect">
            <a:avLst/>
          </a:prstGeom>
          <a:solidFill>
            <a:srgbClr val="1B2838"/>
          </a:solidFill>
          <a:ln w="6350">
            <a:solidFill>
              <a:srgbClr val="DE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594360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ARPU MEDIO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€1.000/mese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per hotel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Accesso completo alla piattaforma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Intelligence + Content + Decision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6 lingue, 4 piattaforme 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Competitive reading &amp; AI discovery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463040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83280" y="1463040"/>
            <a:ext cx="2560320" cy="59436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CATENE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Land &amp; Expand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3 mesi trial gratuito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Pilot 2–3 hotel della catena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Proof of value in 90 giorni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Rollout graduale: 15% a 6 mesi, 40% a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Un account = centinaia di hotel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463040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560320" cy="594360"/>
          </a:xfrm>
          <a:prstGeom prst="rect">
            <a:avLst/>
          </a:prstGeom>
          <a:solidFill>
            <a:srgbClr val="5B8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INDIE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508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€1.000/mese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contratto annuale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Hotel 4–5 stelle indipendenti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Acquisizione da mese 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2 hotel/mese base, +20% YoY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Churn 12% annuo previsto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Business</a:t>
            </a:r>
            <a:endParaRPr lang="en-US" sz="8000" dirty="0"/>
          </a:p>
          <a:p>
            <a:pPr marL="0" indent="0">
              <a:buNone/>
            </a:pPr>
            <a:r>
              <a:rPr lang="en-US" sz="8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Plan.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45720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Proiezioni a 48 mesi  ·  Modello doppia traccia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GROWTH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Dual track: catene + indipendenti.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374904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TRACCIA CATENE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 catene luxury in 48 mesi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1: [Chain A] (82 hotel) — unica catena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2: +[Chain B] (M12), [Chain C]16), [Chain D] (M20)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3: +[Chain E] luxury (M24), [Chain F] (M28), [Chain G]32)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4: +[Chain H] (M36), [Chain I] (M40), [Chain J] (M44)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3566160" cy="18288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Rollout: pilot 2% → 15% a 6 mesi → 40% a 12 mesi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3 mesi di trial gratuito prima del pagamento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2C5F7C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TRACCIA INDIPENDENTI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Hotel 4–5★ individuali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Mesi 1–6: nessun hotel indie (focus su [Chain A])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Da mese 7: 2 hotel/mese come 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Crescita +20% anno su anno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2: ~24 nuovi indie | Anno 3: ~36 | Anno 4: ~36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3794760"/>
            <a:ext cx="3566160" cy="18288"/>
          </a:xfrm>
          <a:prstGeom prst="rect">
            <a:avLst/>
          </a:prstGeom>
          <a:solidFill>
            <a:srgbClr val="DEE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5F7C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ARPU €1.000/hotel/mese  ·  Churn 12%/anno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5F7C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Breakeven al mese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 anni. 341 hotel. €3.8M ARR.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4505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Anno 1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Anno 2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Anno 3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Anno 4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Hotel attivi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41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139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253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341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B7D8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 xml:space="preserve">  di cui paganti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32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106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227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317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4A7FA0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ARR fine anno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€0.4M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€1.3M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€2.7M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€3.8M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Revenue totale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€123K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€761K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€2.1M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€3.3M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Costi totali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€331K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€586K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€1.0M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€1.4M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EBITDA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-€208K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7D2D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+€175K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7D2D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+€1.1M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7D2D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+€1.9M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Crescita ARR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97280" y="3904488"/>
            <a:ext cx="721895" cy="192024"/>
          </a:xfrm>
          <a:prstGeom prst="rect">
            <a:avLst/>
          </a:prstGeom>
          <a:solidFill>
            <a:srgbClr val="5B8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910615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€0.4M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4178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97280" y="4197096"/>
            <a:ext cx="2346158" cy="192024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34878" y="4178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€1.3M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44714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Y3</a:t>
            </a:r>
            <a:endParaRPr lang="en-US" sz="900" dirty="0"/>
          </a:p>
        </p:txBody>
      </p:sp>
      <p:sp>
        <p:nvSpPr>
          <p:cNvPr id="5" name="Shape 11"/>
          <p:cNvSpPr/>
          <p:nvPr/>
        </p:nvSpPr>
        <p:spPr>
          <a:xfrm>
            <a:off x="1097280" y="4489704"/>
            <a:ext cx="4872789" cy="192024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61509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€2.7M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7640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97280" y="4782312"/>
            <a:ext cx="6858000" cy="192024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46720" y="4764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€3.8M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COST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AI-native: il sorpasso al quarto anno.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109728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ARPU / hotel / mese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Revenue annuo €12K per hotel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109728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&gt;80%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Gross margin at scale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AI cost: 20% di revenue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560320" cy="109728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M12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Breakeven EBITDA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Drawdown max ~€210K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Team vs AI: evoluzione costi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182880" cy="13716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28620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Team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2880360"/>
            <a:ext cx="182880" cy="1371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91640" y="28620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AI Tokens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51760" y="2880360"/>
            <a:ext cx="182880" cy="137160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80360" y="28620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Infra + G&amp;A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97280" y="3200400"/>
            <a:ext cx="1330974" cy="22860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28254" y="3200400"/>
            <a:ext cx="128970" cy="2286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57225" y="3200400"/>
            <a:ext cx="247623" cy="228600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96288" y="3154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€0.3K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3584448"/>
            <a:ext cx="1800427" cy="22860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97707" y="3584448"/>
            <a:ext cx="784140" cy="2286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81846" y="3584448"/>
            <a:ext cx="438499" cy="228600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11786" y="3538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€0.6K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39227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97280" y="3968496"/>
            <a:ext cx="2414326" cy="22860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511606" y="3968496"/>
            <a:ext cx="2166702" cy="2286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678308" y="3968496"/>
            <a:ext cx="639693" cy="228600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9441" y="39227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€1M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43068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97280" y="4352544"/>
            <a:ext cx="3048860" cy="22860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146140" y="4352544"/>
            <a:ext cx="3394500" cy="2286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540640" y="4352544"/>
            <a:ext cx="871840" cy="228600"/>
          </a:xfrm>
          <a:prstGeom prst="rect">
            <a:avLst/>
          </a:prstGeom>
          <a:solidFill>
            <a:srgbClr val="1F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03920" y="43068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€1.4M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Al quarto anno i costi AI (€658K) superano i costi team (€591K). La crescita è guidata dall’uso, non dall’headcount.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Nobody orchestrates the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full commercial picture.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834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Player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Scale / Price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What They Do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The Gap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Mews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$2.5B · 15K hotels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Cloud PMS, payments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D8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Operations-focused. Different buyer.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Lighthouse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65K hotels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Rate intel, revenue mgmt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D8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Pricing and ranking. No content.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TrustYou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€115–350/mo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Review aggregation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D8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Gives a score. No action plan.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838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Agencies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€3–8K/mo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838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Generic content, social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D8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Late, monolingual, same brief.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8BA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[COMPANY] ✦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8BA0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€1.000/mo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8BA0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Full commercial AI stack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Intel + content in one system.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E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F7C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Il valore di [Company] è nell’orchestrazione: intelligence a livello di singola proprietà + content multilingue in un unico sistema.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Due fondatori. Un network.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 Geschäftsführer da trovare.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82880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FONDATORI &amp; INVESTITORI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 xml:space="preserve">Founder A &amp;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 xml:space="preserve">		Founder 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€200K capitale iniziale (€100K ciascuno)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Idea, prototipo funzionante, primi clienti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Network luxury: [Advisor 1] (ex [Chain A] VP), [Advisor 2] ([Cruise Co])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Direzione strategica e supporto acquisizioni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7FA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2C5F7C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GESCHÄFTSFÜHRER (TU)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[Me]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Gestione quotidiana: prodotto, clienti, team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10+ anni di residenza svizzera (requisito GmbH)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Esperienza operativa nel tech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7F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Skin in the game: salario sotto mercato + equity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STRATEGIC PARTNERS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8288"/>
          </a:xfrm>
          <a:prstGeom prst="rect">
            <a:avLst/>
          </a:prstGeom>
          <a:solidFill>
            <a:srgbClr val="DEE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[Advisor 1] — Ex VP luxury chain, angel investor. Accesso diretto ai decision maker delle catene luxury.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 xml:space="preserve">Barbara </a:t>
            </a:r>
            <a:r>
              <a:rPr lang="en-US" sz="1000" dirty="0" err="1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[Advisor 2]</a:t>
            </a:r>
            <a:r>
              <a:rPr lang="en-US" sz="10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 xml:space="preserve"> — [Cruise Company], angel investor. Network nel segmento luxury travel &amp; hospitality.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Founder A &amp; Founder B — [Advisory Firm]. 3–4 warm intros/mese a commercial directors di hotel.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Tua</a:t>
            </a:r>
            <a:endParaRPr lang="en-US" sz="8000" dirty="0"/>
          </a:p>
          <a:p>
            <a:pPr marL="0" indent="0">
              <a:buNone/>
            </a:pPr>
            <a:r>
              <a:rPr lang="en-US" sz="8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Proposta.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45720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Compenso, equity, vesting  ·  [Me]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5F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The Deal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Salario + Phantom Shares.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Costruiamo insieme.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234440"/>
            <a:ext cx="9144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097280"/>
          </a:xfrm>
          <a:prstGeom prst="rect">
            <a:avLst/>
          </a:prstGeom>
          <a:solidFill>
            <a:srgbClr val="4A7FA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SALARIO PROPOSTO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CHF 8.840/mese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Annuo lordo CHF 106.080</a:t>
            </a:r>
            <a:endParaRPr lang="en-US" sz="900" dirty="0">
              <a:solidFill>
                <a:srgbClr val="EEF2F7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1097280"/>
          </a:xfrm>
          <a:prstGeom prst="rect">
            <a:avLst/>
          </a:prstGeom>
          <a:solidFill>
            <a:srgbClr val="4A7FA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SALARIO DI MERCATO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CHF 190.000/anno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Salary sacrifice: CHF 83.920/anno</a:t>
            </a:r>
            <a:endParaRPr lang="en-US" sz="900" dirty="0">
              <a:solidFill>
                <a:srgbClr val="EEF2F7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840480" cy="1097280"/>
          </a:xfrm>
          <a:prstGeom prst="rect">
            <a:avLst/>
          </a:prstGeom>
          <a:solidFill>
            <a:srgbClr val="4A7FA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TUA EQUITY MASSIMA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Pool 25% × peso 60% = fino a 15%</a:t>
            </a:r>
            <a:endParaRPr lang="en-US" sz="900" dirty="0">
              <a:solidFill>
                <a:srgbClr val="EEF2F7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840480" cy="1097280"/>
          </a:xfrm>
          <a:prstGeom prst="rect">
            <a:avLst/>
          </a:prstGeom>
          <a:solidFill>
            <a:srgbClr val="4A7FA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SACRIFICE TOTALE (3 ANNI)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€239.000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Il tuo “investimento” in sweat equity</a:t>
            </a:r>
            <a:endParaRPr lang="en-US" sz="900" dirty="0">
              <a:solidFill>
                <a:srgbClr val="EEF2F7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Non ti chiediamo di investire soldi. Ti chiediamo di investire il tuo talento e il tuo tempo. Il cliff ti protegge: se dopo 12 mesi non funziona, ognuno per la sua strada.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VESTING &amp; CLIFF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15% non arriva tutto insieme.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Si costruisce anno per anno.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645920"/>
            <a:ext cx="0" cy="59436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MESI 0–12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CLIFF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731520" cy="32004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417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Periodo di prova reciproca. Nessuna equity matura. Se non funziona, ognuno per la sua strada.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228600" cy="228600"/>
          </a:xfrm>
          <a:prstGeom prst="ellipse">
            <a:avLst/>
          </a:prstGeom>
          <a:solidFill>
            <a:srgbClr val="5B8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4380" y="2514600"/>
            <a:ext cx="0" cy="59436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MESE 12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TRANCHE 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74720" y="2377440"/>
            <a:ext cx="731520" cy="320040"/>
          </a:xfrm>
          <a:prstGeom prst="rect">
            <a:avLst/>
          </a:prstGeom>
          <a:solidFill>
            <a:srgbClr val="5B8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~5%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2860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Se performance score ≥ 25%, superi il cliff. Prima tranche matura, modulata dallo score.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228600" cy="228600"/>
          </a:xfrm>
          <a:prstGeom prst="ellipse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4380" y="3383280"/>
            <a:ext cx="0" cy="59436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MESE 24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TRANCHE 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74720" y="3246120"/>
            <a:ext cx="731520" cy="32004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3246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~10%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154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Seconda rivalutazione KPI. Il tuo pacchetto si consolida. I fondatori rivalutano per anno 3.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228600" cy="228600"/>
          </a:xfrm>
          <a:prstGeom prst="ellipse">
            <a:avLst/>
          </a:prstGeom>
          <a:solidFill>
            <a:srgbClr val="2D7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MESE 36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VESTING COMPLETO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74720" y="4114800"/>
            <a:ext cx="731520" cy="320040"/>
          </a:xfrm>
          <a:prstGeom prst="rect">
            <a:avLst/>
          </a:prstGeom>
          <a:solidFill>
            <a:srgbClr val="2D7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0" y="4114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15%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4023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Ultima tranche. Con performance al 100%: 15% pieno. Sei co-proprietario virtuale dell’azienda.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384048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54864" cy="411480"/>
          </a:xfrm>
          <a:prstGeom prst="rect">
            <a:avLst/>
          </a:prstGeom>
          <a:solidFill>
            <a:srgbClr val="2D7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7D2D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Good leaver: mantieni tutte le phantom shares maturate.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572000"/>
            <a:ext cx="3840480" cy="41148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4572000"/>
            <a:ext cx="54864" cy="41148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3333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Bad leaver: le quote rientrano nel pool. Standard svizzero.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IL VALORE DELLA TUA EQUITY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Quanto vale il tuo 15%.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920240" cy="109728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FINE ANNO 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€0.6M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su valutazione €3.8M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51760" y="1005840"/>
            <a:ext cx="1920240" cy="109728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1051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FINE ANNO 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7432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€1.9M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su valutazione €12.7M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20240" cy="109728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051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FINE ANNO 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4632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€4.1M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su valutazione €27.2M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1920240" cy="109728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1051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FINE ANNO 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494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€5.7M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su valutazione €38.0M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Scenario analysis — Anno 3 (ARR €2.7M)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1874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Scenario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Multiplo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Valutazione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Tuo 15%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vs €239K sacrifice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Pessimistico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BA0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6x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€16.3M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8BA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€2.4M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EF2F7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10x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Conservativo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BA0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8x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€21.8M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8BA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€3.3M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EF2F7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14x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Base (10x)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BA0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10x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€27.2M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8BA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€4.1M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EF2F7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17x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Ottimistico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BA0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12x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€32.7M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8BA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€4.9M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EF2F7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20x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Base Y4 (10x)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B8BA0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10x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EF2F7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€38.0M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8BA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€5.7M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EF2F7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24x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F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162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 xml:space="preserve">Anche nello scenario peggiore (6x), </a:t>
            </a:r>
            <a:r>
              <a:rPr lang="en-US" sz="1100" b="1" dirty="0">
                <a:solidFill>
                  <a:srgbClr val="5B8BA0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il tuo 15% vale €2.4M — 10 volte il tuo sacrifice.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7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1000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[COMPANY]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EF2F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Hotel’s Advanced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657600" cy="0"/>
          </a:xfrm>
          <a:prstGeom prst="line">
            <a:avLst/>
          </a:prstGeom>
          <a:noFill/>
          <a:ln w="12700">
            <a:solidFill>
              <a:srgbClr val="5B8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2F7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Founder A  ·  Co-Founder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D8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Zug, Switzerland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domanda non è se il rischio è troppo alto.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domanda è: quante volte nella vita capita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B8B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un’opportunità come questa?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1F2D3D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CONFIDENZIALE  ·  MARZO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2039</Words>
  <Application>Microsoft Macintosh PowerPoint</Application>
  <PresentationFormat>On-screen Show (16:9)</PresentationFormat>
  <Paragraphs>395</Paragraphs>
  <Slides>21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Cormorant Garamond</vt:lpstr>
      <vt:lpstr>Didact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[COMPANY] — Proposta Operativa Marco Di Cesare</dc:title>
  <dc:subject>PptxGenJS Presentation</dc:subject>
  <dc:creator>[COMPANY]</dc:creator>
  <cp:lastModifiedBy>Amedeo Guffanti</cp:lastModifiedBy>
  <cp:revision>3</cp:revision>
  <dcterms:created xsi:type="dcterms:W3CDTF">2026-03-29T15:40:40Z</dcterms:created>
  <dcterms:modified xsi:type="dcterms:W3CDTF">2026-03-29T17:39:22Z</dcterms:modified>
</cp:coreProperties>
</file>