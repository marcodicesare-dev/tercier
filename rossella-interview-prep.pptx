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600" kern="0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ROSSELLA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brief per martedi mattina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Manager — L-Founders of Loyalty, Italia &amp; Europa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Martedi mattina</a:t>
            </a:r>
            <a:pPr algn="l" indent="0" marL="0">
              <a:buNone/>
            </a:pPr>
            <a:r>
              <a:rPr lang="en-US" sz="14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Marzo 2026  |  Preparato da Marco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cosa che devi capire prima di tutto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stai andando a un colloquio. Stai andando a un incontro dove ex-colleghi NielsenIQ che ti stimano ti offrono un'opportunita su misura per 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0467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96012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6184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 ti ha cercata LUI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947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ha scritto su WhatsApp. Non hai mandato un CV. Ti ha reclutata qualcuno che ha lavorato con te per 6 anni in NielsenIQ e sa cosa sai fare.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0467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51760"/>
            <a:ext cx="54864" cy="9601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27614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Hanno bisogno di te ADESSO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090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campagne primavera/estate partono a breve. Ogni settimana senza un CSS Manager e fatturato che resta sul tavolo per i loro clienti GDO.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94760"/>
            <a:ext cx="54864" cy="960120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9044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Parli la loro lingua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33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L-Founders usa NielsenIQ per misurare il ROI delle campagne. Tu hai passato 7 anni e mezzo dentro NielsenIQ. Conosci la metodologia, i dati, le persone.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L-Founders of Loyalty — L'azienda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Fondazione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868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ma costruita su 30+ anni di esperienza del fondatore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van der Wallen — patrimonio netto ~$1B, presidente PSV Eindhoven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storia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874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fondato BrandLoyalty nel 1995, venduta per ~$1B, poi ha fondato L nel 2020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globale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paesi, 100+ retailer partner, 60M+ clienti all'anno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880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Impatto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880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+3,8% vendite incrementali, +1,4 miliardi EUR negli ultimi 12 mesi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HQ: Den Bosch, Paesi Bassi  |  Italia: Via Decembrio 28, Milano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886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~226-298 globali, ~40 in Italia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68880" y="43891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L-Founders + BrandLoyalty per diventare il leader globale della loyalty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 2025 — Numeri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82880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914400"/>
            <a:ext cx="182880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vendita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914400"/>
            <a:ext cx="1828800" cy="3200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3891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 distribuiti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91440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914400"/>
            <a:ext cx="1828800" cy="32004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8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630M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incrementali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9B7A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011680"/>
            <a:ext cx="1828800" cy="32004"/>
          </a:xfrm>
          <a:prstGeom prst="rect">
            <a:avLst/>
          </a:prstGeom>
          <a:solidFill>
            <a:srgbClr val="9B7AE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B7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6576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Bollini usati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01168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2011680"/>
            <a:ext cx="1828800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18K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37744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Spedizioni gestite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201168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636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2011680"/>
            <a:ext cx="1828800" cy="32004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3891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 nel team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011680"/>
            <a:ext cx="18288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2011680"/>
            <a:ext cx="182880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008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lancio Italia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00400"/>
            <a:ext cx="7863840" cy="164592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significano questi numeri per te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3611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L'operazione Italia e passata da zero a 29 campagne in poco piu di un anno. Hanno vinto i Promotion Awards con la campagna Conad Freddy. Sono entrati nel Retail Institute Italy. Marco ha fatto il keynote al Food Retail Show 2025.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e una squadra in ipercrescita. Ti stanno cercando perche non possono scalare senza persone senior che capiscano i dati dietro la loyalty.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ruolo: CSS Manager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Sales &amp; Service Manager — un ruolo ibrido tra commerciale e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974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9748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PRE-VENDITA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Coordinare la preparazione dei pitch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Attivare esperti e partner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storytelling efficace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proposte su brief del cliente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974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97480" cy="3200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campagne Italia + Europa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Coordinare designer e produzione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budget e tempistiche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su tutti gli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9748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34440"/>
            <a:ext cx="269748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71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RELAZIONI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 quotidiano del cliente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con C-level della GDO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971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nuovi partner strategici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al team sales enablement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Italia E Europa  |  Riporta a: Luca De Nard (GM Italia)  |  Lavora con: il team Sales Enablement di Marco Pellicci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persone che devi conoscere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GLOBALE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van der Wallen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Chairman — ~$1B patrimonio netto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43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Sander Verboom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Ex NIQ/GfK/Philips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143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Dixon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— 36 anni nel loyalty, 5K+ campagne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ITALIA (il tuo mondo quotidiano)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265176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De Nard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963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Italia — IL CAPO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6791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NielsenIQ MD Italia. LUISS. Decide tutto.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2240280"/>
            <a:ext cx="265176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Pellicci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4963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Sales Enablement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6791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NielsenIQ 12 anni. TI HA CERCATA. 6 anni overlap.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35040" y="2240280"/>
            <a:ext cx="265176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2286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Aixa Barassi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4963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Product Mgr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26480" y="26791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Bocconi. Partner in crime di Marco per speech e pitch.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108960"/>
            <a:ext cx="402336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Mezzanotte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364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547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anni digital strategy. Potenziale collega diretto.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26280" y="3108960"/>
            <a:ext cx="4114800" cy="73152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1772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Giuseppina Navarretta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3649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Dir Entertainment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Bocconi. 2K followers. Pesa tantissimo lato entertainment.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DECISION-MAKER GDO (i clienti con cui ti interfaccerai)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34840"/>
            <a:ext cx="19659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4462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Sebastiano Boles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Esselunga — Head of Loyalty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14600" y="4434840"/>
            <a:ext cx="19659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06040" y="4462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Filippo Santiccioli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0604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Conad — Head Customer Mktg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0" y="4434840"/>
            <a:ext cx="19659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4462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Giancarlo Spina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 — Head CRM &amp; Loyalty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812280" y="4434840"/>
            <a:ext cx="1965960" cy="5486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03720" y="446227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Cini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03720" y="46634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NielsenIQ — Commercial Dir — lo conosci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tuo percorso — da dove vieni, dove vai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46304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8A899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463040" cy="32004"/>
          </a:xfrm>
          <a:prstGeom prst="rect">
            <a:avLst/>
          </a:prstGeom>
          <a:solidFill>
            <a:srgbClr val="8A899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70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9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2017-18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basi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Ipsos, EY, Cattolica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qui parte tutto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9164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20240" y="1051560"/>
            <a:ext cx="18288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051560"/>
            <a:ext cx="1828800" cy="32004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2018-22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NielsenIQ Milano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Specialist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anni e 10 mesi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1051560"/>
            <a:ext cx="16459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0" y="1051560"/>
            <a:ext cx="164592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170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2022-23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1444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NielsenIQ Oxford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1828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Analytics Executive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UK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anno e 7 mesi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60720" y="1051560"/>
            <a:ext cx="182880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1051560"/>
            <a:ext cx="1828800" cy="3200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2023-26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NielsenIQ Milano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18288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Customer Success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Liquor + SMB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18288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772400" y="1051560"/>
            <a:ext cx="155448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1051560"/>
            <a:ext cx="155448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1170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1444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L-FOUNDERS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63840" y="182880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&amp; Europa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62-65K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L'overlap NielsenIQ che cambia tutto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 Marco Pellicci: </a:t>
            </a:r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anni nella stessa azienda (2018-2024). Lui Sales Director, tu Analytics/Customer Success. I suoi team si appoggiavano a persone come te.</a:t>
            </a:r>
            <a:pPr algn="l"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 Luca De Nard: </a:t>
            </a:r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periodo di overlap. Lui era MD Italia. Conosce la cultura NielsenIQ da cui vieni.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funziona una campagna — e dove ti inserisci tu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9748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97480" cy="365760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PITCH E STRATEGIA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chiama: 'Vogliamo una campagna Natale'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 e benchmark NielsenIQ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concept: Disney? Zwilling? Tupperware?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con storytelling e proiezione ROI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69748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697480" cy="36576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60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ESECUZIONE (12-18 sett.)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creativo e materiali in-store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prodotti e produzione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Attivazione digitale: app + bollini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971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Logistica: 18.000 spedizioni, 5.000+ negozi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960120"/>
            <a:ext cx="2697480" cy="27432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60120"/>
            <a:ext cx="2697480" cy="36576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960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MISURAZIONE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con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 ROI NielsenIQ (Total Store Impact)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finale: 630M euro incrementali su 16 campagne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MANAGER = TU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Coordini TUTTO questo. Sei il collante tra il commerciale e le operations. Trasformi un contratto firmato in una campagna consegnata. Ti siedi tra il sales enablement di Marco e il team operativo.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Store Impact — il cuore del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9748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spende il cliente per guadagnare il premio (es. 15 euro per bollino)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97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14400"/>
            <a:ext cx="2697480" cy="3200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51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valore percepito del premio: Disney, Zwilling, Tupperware... conta l'emozione.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9748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69748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51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TIMEFRAME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campagna: 14-18 settimane e l'optimum per il comportamento di collezione.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02336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Getting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+3,8% vendite incrementali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 miliardi EUR incrementali (12 mesi)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788920"/>
            <a:ext cx="42062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Building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percezione del brand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engagement digitale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Golden Rules di Marco Pellicci: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708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Investimento: 0,3-0,5% del fatturato del periodo  |  Durata: 14-18 settimane  |  Collezionabilita: calibrata sul singolo retailer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campo di battaglia — chi compete con chi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solidFill>
            <a:srgbClr val="1A2035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896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 chiave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896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84124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L-Founders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Conad, Esselunga + altri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campagne 2025, 630M EUR incrementali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82496"/>
            <a:ext cx="813816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Promotica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 Italia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Quotata AIM Italia, campagne Edo Alessi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39696"/>
            <a:ext cx="813816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Global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Carrefour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Campagna Looney Tunes, player globale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96896"/>
            <a:ext cx="813816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51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 Marketing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Sigma, Sisa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Ball 3D, insegne piu piccole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054096"/>
            <a:ext cx="813816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Group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A2A, Samsung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loyalty B2C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8138160" cy="0"/>
          </a:xfrm>
          <a:prstGeom prst="line">
            <a:avLst/>
          </a:prstGeom>
          <a:noFill/>
          <a:ln w="6350">
            <a:solidFill>
              <a:srgbClr val="1A20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Jakala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774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Plenitude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tech, servizi marketing ampi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2062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Contesto mercato GDO Italia (NielsenIQ 2025-26):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29% dei consumatori e davvero fedele al brand  |  41% cambia marca regolarmente  |  47% delle promo ha efficacia ridotta  |  53% vuole provare brand nuovi (+7pp). La fedelta in calo e una BUONA notizia per L-Founders — i retailer hanno disperatamente bisogno di campagne loyalty.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Traiettoria di crescita — il timing e perfetto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8A899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457200"/>
          </a:xfrm>
          <a:prstGeom prst="rect">
            <a:avLst/>
          </a:prstGeom>
          <a:solidFill>
            <a:srgbClr val="8A899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De Nard arriva come GM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 costruire da zero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campagne attivate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4028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1168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14400"/>
            <a:ext cx="2011680" cy="457200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6888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50876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campagne, 5.000+ negozi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premi, 630M increm.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Pellicci arriva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Awards vinti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Institute socio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201168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2011680" cy="45720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Bollino digitale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con 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Integrazione app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Nuove insegne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Manager = ROSSELLA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58000" y="914400"/>
            <a:ext cx="201168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0" y="914400"/>
            <a:ext cx="2011680" cy="45720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0" y="1143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1508760"/>
            <a:ext cx="1737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Fusione con BrandLoyalty?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 assoluto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+ Europa digital-first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loyalty completa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tua narrativa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 misurare la loyalty a crearla"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" cy="457200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anni e mezzo in NielsenIQ a misurare esattamente quello che L-Founders crea: l'efficacia delle campagne loyalty per la GDO italiana.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4864" cy="45720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leggere i dati dietro i 630 milioni di euro di revenue incrementale — perche analisi cosi le hai fatte per anni.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" cy="457200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presentato a C-level del retail come consultant. Il ruolo CSS ti chiede di gestire esattamente quelle relazioni.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" cy="457200"/>
          </a:xfrm>
          <a:prstGeom prst="rect">
            <a:avLst/>
          </a:prstGeom>
          <a:solidFill>
            <a:srgbClr val="9B7AE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mesi a Oxford ti hanno dato comfort internazionale. Il ruolo ha scope europeo. Sei pronta.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4864" cy="45720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puoi passare dal lato della misurazione a quello della creazione — usando tutta la tua intelligenza analitica per disegnare, vendere e consegnare campagne migliori.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dire in ogni momento del colloquio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196596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"Grazie Marco per avermi pensata"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"Conosco L-Founders dal mondo NielsenIQ"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 che state crescendo tantissimo in Italia"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914400"/>
            <a:ext cx="19659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14400"/>
            <a:ext cx="1965960" cy="3200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PERCHE 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"7,5 anni a misurare loyalty — ora voglio crearla"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194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"Parlo la lingua dei dati e quella dei clienti"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29718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"18 mesi a Oxford — comfort internazionale"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19659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196596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CONOSCENZA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"29 campagne nel 2025 — scaling impressionante"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"630M euro incrementali — so come si calcolano"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9718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"L'entropia della fedelta — metafora geniale"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914400"/>
            <a:ext cx="19659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914400"/>
            <a:ext cx="1965960" cy="32004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0515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417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"Obiettivo 2026 — quante campagne?"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21945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"Bollino digitale — a che punto siete?"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9718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 funziona con l'HQ in Olanda?"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Strategia stipendio — conosci i tuoi numeri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Milano 2026 (RAL)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(generico)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2743200" cy="228600"/>
          </a:xfrm>
          <a:prstGeom prst="rect">
            <a:avLst/>
          </a:prstGeom>
          <a:solidFill>
            <a:srgbClr val="8A8992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Manager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3840480" cy="228600"/>
          </a:xfrm>
          <a:prstGeom prst="rect">
            <a:avLst/>
          </a:prstGeom>
          <a:solidFill>
            <a:srgbClr val="A09FA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600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4663440" cy="228600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55-75K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Mgr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468880"/>
            <a:ext cx="4023360" cy="228600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Marketing Mgr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4663440" cy="22860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TUOI TARGET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196596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8A899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703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89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50-52K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Attuale (NielsenIQ)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657600"/>
            <a:ext cx="196596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14600" y="3703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51460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MINIMO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657600"/>
            <a:ext cx="196596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3703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OTTIMALE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3657600"/>
            <a:ext cx="196596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12280" y="3703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68-70K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812280" y="4114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STRETCH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7 leve per portare a casa il massimo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941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L'azienda del miliardario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52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Un'azienda fondata da un miliardario non puo offrirti stipendi da PMI.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A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1947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scope europeo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58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dice Italia E Europa. Giustifica +15-20% rispetto a un ruolo domestico.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953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ponte NielsenIQ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264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 anni di metodologia che LORO usano per misurare le campagne. Valore unico.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8E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39593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sei tu a cercare loro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2702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ti ha cercata LUI. Non stai cercando — stai valutando.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66360" y="9418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L'urgenza delle campagne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2527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campagne partono a breve. Ogni settimana senza CSS Manager = fatturato perso.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7452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9B7A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7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166360" y="1947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C-level management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258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Interfacciarsi con i C-level di Conad, Esselunga, Carrefour richiede seniority.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11480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636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66360" y="2953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package, non solo la RAL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2644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resistono sulla RAL: bonus 5-10%, auto, buoni pasto, smart working, formazione.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636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4590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 offrono P.IVA: il lordo deve essere almeno il 130% della RAL dipendente equivalente (85K+ per pareggiare 65K). Sotto = ci perdi.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Albero delle decisioni — ogni scenario coperto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C'E AL TAVOLO?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Marco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informale. Parla da ex collega. Mostra entusiasmo. Chiedi di Luca.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97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34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+ Luca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piu strutturato. Pitch di 30 secondi pronto. Domande strategiche.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9748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9B7A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+ Luca + HR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interview mode. Tutte le talking points. Esempi concreti.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DI CONTRATTO?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2697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6517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62-65K RAL + bonus + benefit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606040"/>
            <a:ext cx="2697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E8636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26517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P.IVA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85K+ lordo oppure declina con garbo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606040"/>
            <a:ext cx="26974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8A899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26517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ne parlano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8803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sollevare tu il tema. Aspetta il secondo incontro.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TI OFFRONO...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19659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60K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leva 3 (ponte NielsenIQ) + leva 6 (C-level management)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3931920"/>
            <a:ext cx="19659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60-65K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224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 e negozia il bonus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931920"/>
            <a:ext cx="19659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224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 subito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12280" y="3931920"/>
            <a:ext cx="19659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0372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muovono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2245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Chiedi: review dello stipendio dopo 6 mesi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 — quando dire 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636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4864" cy="640080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P.IVA sotto 80K lordo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BREAKER. Declina con garbo.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051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BREAKER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373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ruolo e solo operativo (nessun input strategico)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ATTENZIONE. Chiarisci subito lo scope strategico.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ATTENZIONE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841248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percorso di crescita visibile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CHIEDI: 'Dove vedo questo ruolo tra 2 anni?'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ATTENZIONE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841248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291840"/>
            <a:ext cx="54864" cy="64008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troppo piccolo per 29+ campagne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CHIEDI: 'Qual e il piano di assunzioni 2026?'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CHIARISCI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69080"/>
            <a:ext cx="54864" cy="64008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menzione dello scope internazionale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CHIARISCI: il JD dice Italia E Europa.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CHIARISCI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45994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nessuno di questi red flag compare: SEMAFORO VERDE. Vai con entusiasmo e sicurezza.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numeri da sapere a memoria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32004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8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L-FOUNDERS GLOBALE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Fondazione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partner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Clienti/anno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 increm.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+1,4B EUR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uplift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Dipendenti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~226-298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868680"/>
            <a:ext cx="2743200" cy="3200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L-FOUNDERS ITALIA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vendita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1772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Spedizioni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increm.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630M EUR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1772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persone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868680"/>
            <a:ext cx="27432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868680"/>
            <a:ext cx="2743200" cy="32004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987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A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GDO ITALIA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2025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4380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+2,6% val, +1,1% vol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MDD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4380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32,2% (+0,6pp)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6364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Fedeli al brand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43800" y="2194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il 29%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6364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Cambiano marca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4380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364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Vogliono novita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438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(+7pp)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efficacia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543800" y="3429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lift ridotto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636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eComm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543800" y="3840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+8,1%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frasi da buttare la come se niente fosse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685800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630 milioni di revenue incrementale misurati da NielsenIQ? So esattamente come si calcola quel numero, perche l'ho fatto per anni."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AAFB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54864" cy="685800"/>
          </a:xfrm>
          <a:prstGeom prst="rect">
            <a:avLst/>
          </a:prstGeom>
          <a:solidFill>
            <a:srgbClr val="3AAF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64792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"L'entropia della fedelta che Marco ha presentato al Food Retail Show e una metafora perfetta — cattura esattamente perche le campagne tattiche servono energia continua."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4CC9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23744"/>
            <a:ext cx="54864" cy="685800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946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 visto che siete entrati nel Retail Institute Italy come soci — mossa intelligente per consolidare la credibilita nel mercato."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6B8E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28416"/>
            <a:ext cx="54864" cy="685800"/>
          </a:xfrm>
          <a:prstGeom prst="rect">
            <a:avLst/>
          </a:prstGeom>
          <a:solidFill>
            <a:srgbClr val="6B8EE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74136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campagna Conad Freddy ai Promotion Awards dimostra che L-Founders puo competere alla pari con Promotica e tcc Global in Italia."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9B7AE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33088"/>
            <a:ext cx="54864" cy="685800"/>
          </a:xfrm>
          <a:prstGeom prst="rect">
            <a:avLst/>
          </a:prstGeom>
          <a:solidFill>
            <a:srgbClr val="9B7A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7880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2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"29 campagne in 5.000 punti vendita, con un team che esiste da poco piu di un anno. E uno scaling impressionante."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0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L'ultima cosa che dici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ti chiedono "Hai altre domande?":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E8A84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E8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"Una sola. Ho passato quasi 8 anni a misurare da fuori quello che voi create. So riconoscere una campagna che funziona dai dati — e so perche funziona. La mia domanda e: quanto velocemente posso iniziare?"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111827"/>
          </a:solidFill>
          <a:ln/>
          <a:effectLst>
            <a:outerShdw sx="100000" sy="100000" kx="0" ky="0" algn="bl" rotWithShape="0" blurRad="508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frase fa tutto: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Riassume il tuo valore (sai leggere i risultati)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sicurezza (sai quello che sai)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 entusiasmo (vuoi iniziare)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urgenza (le campagne partono a breve)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9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fa immaginare te gia nel ruolo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4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Rossella Cernuto — L-Founders of Loyalty Interview Prep</dc:title>
  <dc:subject>PptxGenJS Presentation</dc:subject>
  <dc:creator>Marco Di Cesare</dc:creator>
  <cp:lastModifiedBy>Marco Di Cesare</cp:lastModifiedBy>
  <cp:revision>1</cp:revision>
  <dcterms:created xsi:type="dcterms:W3CDTF">2026-03-22T21:27:55Z</dcterms:created>
  <dcterms:modified xsi:type="dcterms:W3CDTF">2026-03-22T21:27:55Z</dcterms:modified>
</cp:coreProperties>
</file>