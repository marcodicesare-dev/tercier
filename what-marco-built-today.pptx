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4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5A3C"/>
          </a:solidFill>
          <a:ln/>
        </p:spPr>
      </p:sp>
      <p:pic>
        <p:nvPicPr>
          <p:cNvPr id="3" name="Image 0" descr="preencoded.png">    </p:cNvPr>
          <p:cNvPicPr>
            <a:picLocks noChangeAspect="1"/>
          </p:cNvPicPr>
          <p:nvPr/>
        </p:nvPicPr>
        <p:blipFill>
          <a:blip r:embed="rId1"/>
          <a:stretch>
            <a:fillRect/>
          </a:stretch>
        </p:blipFill>
        <p:spPr>
          <a:xfrm>
            <a:off x="640080" y="1188720"/>
            <a:ext cx="548640" cy="548640"/>
          </a:xfrm>
          <a:prstGeom prst="rect">
            <a:avLst/>
          </a:prstGeom>
        </p:spPr>
      </p:pic>
      <p:sp>
        <p:nvSpPr>
          <p:cNvPr id="4" name="Text 1"/>
          <p:cNvSpPr/>
          <p:nvPr/>
        </p:nvSpPr>
        <p:spPr>
          <a:xfrm>
            <a:off x="548640" y="18288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 Marco Built Today</a:t>
            </a:r>
            <a:endParaRPr lang="en-US" sz="3600" dirty="0"/>
          </a:p>
        </p:txBody>
      </p:sp>
      <p:sp>
        <p:nvSpPr>
          <p:cNvPr id="5" name="Text 2"/>
          <p:cNvSpPr/>
          <p:nvPr/>
        </p:nvSpPr>
        <p:spPr>
          <a:xfrm>
            <a:off x="548640" y="2651760"/>
            <a:ext cx="6400800" cy="640080"/>
          </a:xfrm>
          <a:prstGeom prst="rect">
            <a:avLst/>
          </a:prstGeom>
          <a:noFill/>
          <a:ln/>
        </p:spPr>
        <p:txBody>
          <a:bodyPr wrap="square" lIns="0" tIns="0" rIns="0" bIns="0" rtlCol="0" anchor="ctr"/>
          <a:lstStyle/>
          <a:p>
            <a:pPr indent="0" marL="0">
              <a:lnSpc>
                <a:spcPct val="130000"/>
              </a:lnSpc>
              <a:buNone/>
            </a:pPr>
            <a:r>
              <a:rPr lang="en-US" sz="1600" dirty="0">
                <a:solidFill>
                  <a:srgbClr val="B8A088"/>
                </a:solidFill>
                <a:latin typeface="Arial" pitchFamily="34" charset="0"/>
                <a:ea typeface="Arial" pitchFamily="34" charset="-122"/>
                <a:cs typeface="Arial" pitchFamily="34" charset="-120"/>
              </a:rPr>
              <a:t>Explained for someone who knows</a:t>
            </a:r>
            <a:endParaRPr lang="en-US" sz="1600" dirty="0"/>
          </a:p>
          <a:p>
            <a:pPr indent="0" marL="0">
              <a:lnSpc>
                <a:spcPct val="130000"/>
              </a:lnSpc>
              <a:buNone/>
            </a:pPr>
            <a:r>
              <a:rPr lang="en-US" sz="1600" dirty="0">
                <a:solidFill>
                  <a:srgbClr val="B8A088"/>
                </a:solidFill>
                <a:latin typeface="Arial" pitchFamily="34" charset="0"/>
                <a:ea typeface="Arial" pitchFamily="34" charset="-122"/>
                <a:cs typeface="Arial" pitchFamily="34" charset="-120"/>
              </a:rPr>
              <a:t>consumer research, not hotel tech</a:t>
            </a:r>
            <a:endParaRPr lang="en-US" sz="1600" dirty="0"/>
          </a:p>
        </p:txBody>
      </p:sp>
      <p:sp>
        <p:nvSpPr>
          <p:cNvPr id="6" name="Shape 3"/>
          <p:cNvSpPr/>
          <p:nvPr/>
        </p:nvSpPr>
        <p:spPr>
          <a:xfrm>
            <a:off x="548640" y="3520440"/>
            <a:ext cx="2286000" cy="2743"/>
          </a:xfrm>
          <a:prstGeom prst="rect">
            <a:avLst/>
          </a:prstGeom>
          <a:solidFill>
            <a:srgbClr val="C45A3C"/>
          </a:solidFill>
          <a:ln/>
        </p:spPr>
      </p:sp>
      <p:sp>
        <p:nvSpPr>
          <p:cNvPr id="7" name="Text 4"/>
          <p:cNvSpPr/>
          <p:nvPr/>
        </p:nvSpPr>
        <p:spPr>
          <a:xfrm>
            <a:off x="548640" y="3657600"/>
            <a:ext cx="2743200" cy="365760"/>
          </a:xfrm>
          <a:prstGeom prst="rect">
            <a:avLst/>
          </a:prstGeom>
          <a:noFill/>
          <a:ln/>
        </p:spPr>
        <p:txBody>
          <a:bodyPr wrap="square" rtlCol="0" anchor="ctr"/>
          <a:lstStyle/>
          <a:p>
            <a:pPr indent="0" marL="0">
              <a:buNone/>
            </a:pPr>
            <a:r>
              <a:rPr lang="en-US" sz="1200" dirty="0">
                <a:solidFill>
                  <a:srgbClr val="6B5D4F"/>
                </a:solidFill>
                <a:latin typeface="Arial" pitchFamily="34" charset="0"/>
                <a:ea typeface="Arial" pitchFamily="34" charset="-122"/>
                <a:cs typeface="Arial" pitchFamily="34" charset="-120"/>
              </a:rPr>
              <a:t>March 28,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2/10</a:t>
            </a:r>
            <a:endParaRPr lang="en-US" sz="900" dirty="0"/>
          </a:p>
        </p:txBody>
      </p:sp>
      <p:sp>
        <p:nvSpPr>
          <p:cNvPr id="4" name="Text 2"/>
          <p:cNvSpPr/>
          <p:nvPr/>
        </p:nvSpPr>
        <p:spPr>
          <a:xfrm>
            <a:off x="548640" y="274320"/>
            <a:ext cx="54864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The Problem</a:t>
            </a:r>
            <a:endParaRPr lang="en-US" sz="2800" dirty="0"/>
          </a:p>
        </p:txBody>
      </p:sp>
      <p:sp>
        <p:nvSpPr>
          <p:cNvPr id="5" name="Text 3"/>
          <p:cNvSpPr/>
          <p:nvPr/>
        </p:nvSpPr>
        <p:spPr>
          <a:xfrm>
            <a:off x="548640" y="777240"/>
            <a:ext cx="5486400" cy="365760"/>
          </a:xfrm>
          <a:prstGeom prst="rect">
            <a:avLst/>
          </a:prstGeom>
          <a:noFill/>
          <a:ln/>
        </p:spPr>
        <p:txBody>
          <a:bodyPr wrap="square" lIns="0" tIns="0" rIns="0" bIns="0" rtlCol="0" anchor="ctr"/>
          <a:lstStyle/>
          <a:p>
            <a:pPr indent="0" marL="0">
              <a:buNone/>
            </a:pPr>
            <a:r>
              <a:rPr lang="en-US" sz="1400" i="1" dirty="0">
                <a:solidFill>
                  <a:srgbClr val="C45A3C"/>
                </a:solidFill>
                <a:latin typeface="Arial" pitchFamily="34" charset="0"/>
                <a:ea typeface="Arial" pitchFamily="34" charset="-122"/>
                <a:cs typeface="Arial" pitchFamily="34" charset="-120"/>
              </a:rPr>
              <a:t>Think of Victorinox, but for hotels</a:t>
            </a:r>
            <a:endParaRPr lang="en-US" sz="1400" dirty="0"/>
          </a:p>
        </p:txBody>
      </p:sp>
      <p:sp>
        <p:nvSpPr>
          <p:cNvPr id="6" name="Shape 4"/>
          <p:cNvSpPr/>
          <p:nvPr/>
        </p:nvSpPr>
        <p:spPr>
          <a:xfrm>
            <a:off x="457200" y="1371600"/>
            <a:ext cx="3931920" cy="3108960"/>
          </a:xfrm>
          <a:prstGeom prst="roundRect">
            <a:avLst>
              <a:gd name="adj" fmla="val 4412"/>
            </a:avLst>
          </a:prstGeom>
          <a:solidFill>
            <a:srgbClr val="FFFFFF"/>
          </a:solidFill>
          <a:ln/>
          <a:effectLst>
            <a:outerShdw sx="100000" sy="100000" kx="0" ky="0" algn="bl" rotWithShape="0" blurRad="101600" dist="25400" dir="8100000">
              <a:srgbClr val="000000">
                <a:alpha val="8000"/>
              </a:srgbClr>
            </a:outerShdw>
          </a:effectLst>
        </p:spPr>
      </p:sp>
      <p:sp>
        <p:nvSpPr>
          <p:cNvPr id="7" name="Text 5"/>
          <p:cNvSpPr/>
          <p:nvPr/>
        </p:nvSpPr>
        <p:spPr>
          <a:xfrm>
            <a:off x="731520" y="1508760"/>
            <a:ext cx="3474720" cy="320040"/>
          </a:xfrm>
          <a:prstGeom prst="rect">
            <a:avLst/>
          </a:prstGeom>
          <a:noFill/>
          <a:ln/>
        </p:spPr>
        <p:txBody>
          <a:bodyPr wrap="square" lIns="0" tIns="0" rIns="0" bIns="0" rtlCol="0" anchor="ctr"/>
          <a:lstStyle/>
          <a:p>
            <a:pPr indent="0" marL="0">
              <a:buNone/>
            </a:pPr>
            <a:r>
              <a:rPr lang="en-US" sz="1300" b="1" dirty="0">
                <a:solidFill>
                  <a:srgbClr val="C45A3C"/>
                </a:solidFill>
                <a:latin typeface="Arial" pitchFamily="34" charset="0"/>
                <a:ea typeface="Arial" pitchFamily="34" charset="-122"/>
                <a:cs typeface="Arial" pitchFamily="34" charset="-120"/>
              </a:rPr>
              <a:t>Imagine this at Victorinox:</a:t>
            </a:r>
            <a:endParaRPr lang="en-US" sz="1300" dirty="0"/>
          </a:p>
        </p:txBody>
      </p:sp>
      <p:sp>
        <p:nvSpPr>
          <p:cNvPr id="8" name="Text 6"/>
          <p:cNvSpPr/>
          <p:nvPr/>
        </p:nvSpPr>
        <p:spPr>
          <a:xfrm>
            <a:off x="731520" y="1920240"/>
            <a:ext cx="3474720" cy="2377440"/>
          </a:xfrm>
          <a:prstGeom prst="rect">
            <a:avLst/>
          </a:prstGeom>
          <a:noFill/>
          <a:ln/>
        </p:spPr>
        <p:txBody>
          <a:bodyPr wrap="square" rtlCol="0" anchor="t"/>
          <a:lstStyle/>
          <a:p>
            <a:pPr indent="0" marL="0">
              <a:lnSpc>
                <a:spcPct val="125000"/>
              </a:lnSpc>
              <a:buNone/>
            </a:pPr>
            <a:r>
              <a:rPr lang="en-US" sz="1200" dirty="0">
                <a:solidFill>
                  <a:srgbClr val="2C2418"/>
                </a:solidFill>
              </a:rPr>
              <a:t>You need to sell pocket knives in 30 countries, in 15 languages, to 8 different customer segments (hikers, collectors, chefs, military...).</a:t>
            </a:r>
            <a:endParaRPr lang="en-US" sz="1200" dirty="0"/>
          </a:p>
          <a:p>
            <a:pPr indent="0" marL="0">
              <a:lnSpc>
                <a:spcPct val="125000"/>
              </a:lnSpc>
              <a:buNone/>
            </a:pPr>
            <a:endParaRPr lang="en-US" sz="1200" dirty="0"/>
          </a:p>
          <a:p>
            <a:pPr indent="0" marL="0">
              <a:lnSpc>
                <a:spcPct val="125000"/>
              </a:lnSpc>
              <a:buNone/>
            </a:pPr>
            <a:r>
              <a:rPr lang="en-US" sz="1200" dirty="0">
                <a:solidFill>
                  <a:srgbClr val="2C2418"/>
                </a:solidFill>
              </a:rPr>
              <a:t>But your entire marketing team is ONE person who used to work at the shop counter.</a:t>
            </a:r>
            <a:endParaRPr lang="en-US" sz="1200" dirty="0"/>
          </a:p>
          <a:p>
            <a:pPr indent="0" marL="0">
              <a:lnSpc>
                <a:spcPct val="125000"/>
              </a:lnSpc>
              <a:buNone/>
            </a:pPr>
            <a:endParaRPr lang="en-US" sz="1200" dirty="0"/>
          </a:p>
          <a:p>
            <a:pPr indent="0" marL="0">
              <a:lnSpc>
                <a:spcPct val="125000"/>
              </a:lnSpc>
              <a:buNone/>
            </a:pPr>
            <a:r>
              <a:rPr lang="en-US" sz="1200" dirty="0">
                <a:solidFill>
                  <a:srgbClr val="2C2418"/>
                </a:solidFill>
              </a:rPr>
              <a:t>They handle Instagram, website copy, email campaigns, customer reviews, competitor analysis, event promotions — in every language — by themselves.</a:t>
            </a:r>
            <a:endParaRPr lang="en-US" sz="1200" dirty="0"/>
          </a:p>
          <a:p>
            <a:pPr indent="0" marL="0">
              <a:lnSpc>
                <a:spcPct val="125000"/>
              </a:lnSpc>
              <a:buNone/>
            </a:pPr>
            <a:endParaRPr lang="en-US" sz="1200" dirty="0"/>
          </a:p>
          <a:p>
            <a:pPr indent="0" marL="0">
              <a:lnSpc>
                <a:spcPct val="125000"/>
              </a:lnSpc>
              <a:buNone/>
            </a:pPr>
            <a:r>
              <a:rPr lang="en-US" sz="1200" b="1" dirty="0">
                <a:solidFill>
                  <a:srgbClr val="C45A3C"/>
                </a:solidFill>
              </a:rPr>
              <a:t>That's the reality for a hotel with EUR 20M revenue.</a:t>
            </a:r>
            <a:endParaRPr lang="en-US" sz="1200" dirty="0"/>
          </a:p>
        </p:txBody>
      </p:sp>
      <p:sp>
        <p:nvSpPr>
          <p:cNvPr id="9" name="Shape 7"/>
          <p:cNvSpPr/>
          <p:nvPr/>
        </p:nvSpPr>
        <p:spPr>
          <a:xfrm>
            <a:off x="4754880" y="1371600"/>
            <a:ext cx="3931920" cy="3108960"/>
          </a:xfrm>
          <a:prstGeom prst="roundRect">
            <a:avLst>
              <a:gd name="adj" fmla="val 4412"/>
            </a:avLst>
          </a:prstGeom>
          <a:solidFill>
            <a:srgbClr val="F5EDE4"/>
          </a:solidFill>
          <a:ln/>
        </p:spPr>
      </p:sp>
      <p:sp>
        <p:nvSpPr>
          <p:cNvPr id="10" name="Text 8"/>
          <p:cNvSpPr/>
          <p:nvPr/>
        </p:nvSpPr>
        <p:spPr>
          <a:xfrm>
            <a:off x="5029200" y="1508760"/>
            <a:ext cx="3474720" cy="320040"/>
          </a:xfrm>
          <a:prstGeom prst="rect">
            <a:avLst/>
          </a:prstGeom>
          <a:noFill/>
          <a:ln/>
        </p:spPr>
        <p:txBody>
          <a:bodyPr wrap="square" lIns="0" tIns="0" rIns="0" bIns="0" rtlCol="0" anchor="ctr"/>
          <a:lstStyle/>
          <a:p>
            <a:pPr indent="0" marL="0">
              <a:buNone/>
            </a:pPr>
            <a:r>
              <a:rPr lang="en-US" sz="1300" b="1" dirty="0">
                <a:solidFill>
                  <a:srgbClr val="6B5D4F"/>
                </a:solidFill>
                <a:latin typeface="Arial" pitchFamily="34" charset="0"/>
                <a:ea typeface="Arial" pitchFamily="34" charset="-122"/>
                <a:cs typeface="Arial" pitchFamily="34" charset="-120"/>
              </a:rPr>
              <a:t>Hotel marketing reality:</a:t>
            </a:r>
            <a:endParaRPr lang="en-US" sz="1300" dirty="0"/>
          </a:p>
        </p:txBody>
      </p:sp>
      <p:sp>
        <p:nvSpPr>
          <p:cNvPr id="11" name="Text 9"/>
          <p:cNvSpPr/>
          <p:nvPr/>
        </p:nvSpPr>
        <p:spPr>
          <a:xfrm>
            <a:off x="5029200" y="1965960"/>
            <a:ext cx="1828800" cy="256032"/>
          </a:xfrm>
          <a:prstGeom prst="rect">
            <a:avLst/>
          </a:prstGeom>
          <a:noFill/>
          <a:ln/>
        </p:spPr>
        <p:txBody>
          <a:bodyPr wrap="square" lIns="0" tIns="0" rIns="0" bIns="0" rtlCol="0" anchor="ctr"/>
          <a:lstStyle/>
          <a:p>
            <a:pPr indent="0" marL="0">
              <a:buNone/>
            </a:pPr>
            <a:r>
              <a:rPr lang="en-US" sz="1600" b="1" dirty="0">
                <a:solidFill>
                  <a:srgbClr val="C45A3C"/>
                </a:solidFill>
                <a:latin typeface="Georgia" pitchFamily="34" charset="0"/>
                <a:ea typeface="Georgia" pitchFamily="34" charset="-122"/>
                <a:cs typeface="Georgia" pitchFamily="34" charset="-120"/>
              </a:rPr>
              <a:t>1-3 people</a:t>
            </a:r>
            <a:endParaRPr lang="en-US" sz="1600" dirty="0"/>
          </a:p>
        </p:txBody>
      </p:sp>
      <p:sp>
        <p:nvSpPr>
          <p:cNvPr id="12" name="Text 10"/>
          <p:cNvSpPr/>
          <p:nvPr/>
        </p:nvSpPr>
        <p:spPr>
          <a:xfrm>
            <a:off x="6766560" y="1984248"/>
            <a:ext cx="1828800" cy="256032"/>
          </a:xfrm>
          <a:prstGeom prst="rect">
            <a:avLst/>
          </a:prstGeom>
          <a:noFill/>
          <a:ln/>
        </p:spPr>
        <p:txBody>
          <a:bodyPr wrap="square" lIns="0" tIns="0" rIns="0" bIns="0" rtlCol="0" anchor="ctr"/>
          <a:lstStyle/>
          <a:p>
            <a:pPr indent="0" marL="0">
              <a:buNone/>
            </a:pPr>
            <a:r>
              <a:rPr lang="en-US" sz="1100" dirty="0">
                <a:solidFill>
                  <a:srgbClr val="6B5D4F"/>
                </a:solidFill>
                <a:latin typeface="Arial" pitchFamily="34" charset="0"/>
                <a:ea typeface="Arial" pitchFamily="34" charset="-122"/>
                <a:cs typeface="Arial" pitchFamily="34" charset="-120"/>
              </a:rPr>
              <a:t>entire marketing team</a:t>
            </a:r>
            <a:endParaRPr lang="en-US" sz="1100" dirty="0"/>
          </a:p>
        </p:txBody>
      </p:sp>
      <p:sp>
        <p:nvSpPr>
          <p:cNvPr id="13" name="Text 11"/>
          <p:cNvSpPr/>
          <p:nvPr/>
        </p:nvSpPr>
        <p:spPr>
          <a:xfrm>
            <a:off x="5029200" y="2441448"/>
            <a:ext cx="1828800" cy="256032"/>
          </a:xfrm>
          <a:prstGeom prst="rect">
            <a:avLst/>
          </a:prstGeom>
          <a:noFill/>
          <a:ln/>
        </p:spPr>
        <p:txBody>
          <a:bodyPr wrap="square" lIns="0" tIns="0" rIns="0" bIns="0" rtlCol="0" anchor="ctr"/>
          <a:lstStyle/>
          <a:p>
            <a:pPr indent="0" marL="0">
              <a:buNone/>
            </a:pPr>
            <a:r>
              <a:rPr lang="en-US" sz="1600" b="1" dirty="0">
                <a:solidFill>
                  <a:srgbClr val="C45A3C"/>
                </a:solidFill>
                <a:latin typeface="Georgia" pitchFamily="34" charset="0"/>
                <a:ea typeface="Georgia" pitchFamily="34" charset="-122"/>
                <a:cs typeface="Georgia" pitchFamily="34" charset="-120"/>
              </a:rPr>
              <a:t>8+ platforms</a:t>
            </a:r>
            <a:endParaRPr lang="en-US" sz="1600" dirty="0"/>
          </a:p>
        </p:txBody>
      </p:sp>
      <p:sp>
        <p:nvSpPr>
          <p:cNvPr id="14" name="Text 12"/>
          <p:cNvSpPr/>
          <p:nvPr/>
        </p:nvSpPr>
        <p:spPr>
          <a:xfrm>
            <a:off x="6766560" y="2459736"/>
            <a:ext cx="1828800" cy="256032"/>
          </a:xfrm>
          <a:prstGeom prst="rect">
            <a:avLst/>
          </a:prstGeom>
          <a:noFill/>
          <a:ln/>
        </p:spPr>
        <p:txBody>
          <a:bodyPr wrap="square" lIns="0" tIns="0" rIns="0" bIns="0" rtlCol="0" anchor="ctr"/>
          <a:lstStyle/>
          <a:p>
            <a:pPr indent="0" marL="0">
              <a:buNone/>
            </a:pPr>
            <a:r>
              <a:rPr lang="en-US" sz="1100" dirty="0">
                <a:solidFill>
                  <a:srgbClr val="6B5D4F"/>
                </a:solidFill>
                <a:latin typeface="Arial" pitchFamily="34" charset="0"/>
                <a:ea typeface="Arial" pitchFamily="34" charset="-122"/>
                <a:cs typeface="Arial" pitchFamily="34" charset="-120"/>
              </a:rPr>
              <a:t>to manage reviews on</a:t>
            </a:r>
            <a:endParaRPr lang="en-US" sz="1100" dirty="0"/>
          </a:p>
        </p:txBody>
      </p:sp>
      <p:sp>
        <p:nvSpPr>
          <p:cNvPr id="15" name="Text 13"/>
          <p:cNvSpPr/>
          <p:nvPr/>
        </p:nvSpPr>
        <p:spPr>
          <a:xfrm>
            <a:off x="5029200" y="2916936"/>
            <a:ext cx="1828800" cy="256032"/>
          </a:xfrm>
          <a:prstGeom prst="rect">
            <a:avLst/>
          </a:prstGeom>
          <a:noFill/>
          <a:ln/>
        </p:spPr>
        <p:txBody>
          <a:bodyPr wrap="square" lIns="0" tIns="0" rIns="0" bIns="0" rtlCol="0" anchor="ctr"/>
          <a:lstStyle/>
          <a:p>
            <a:pPr indent="0" marL="0">
              <a:buNone/>
            </a:pPr>
            <a:r>
              <a:rPr lang="en-US" sz="1600" b="1" dirty="0">
                <a:solidFill>
                  <a:srgbClr val="C45A3C"/>
                </a:solidFill>
                <a:latin typeface="Georgia" pitchFamily="34" charset="0"/>
                <a:ea typeface="Georgia" pitchFamily="34" charset="-122"/>
                <a:cs typeface="Georgia" pitchFamily="34" charset="-120"/>
              </a:rPr>
              <a:t>10-20 languages</a:t>
            </a:r>
            <a:endParaRPr lang="en-US" sz="1600" dirty="0"/>
          </a:p>
        </p:txBody>
      </p:sp>
      <p:sp>
        <p:nvSpPr>
          <p:cNvPr id="16" name="Text 14"/>
          <p:cNvSpPr/>
          <p:nvPr/>
        </p:nvSpPr>
        <p:spPr>
          <a:xfrm>
            <a:off x="6766560" y="2935224"/>
            <a:ext cx="1828800" cy="256032"/>
          </a:xfrm>
          <a:prstGeom prst="rect">
            <a:avLst/>
          </a:prstGeom>
          <a:noFill/>
          <a:ln/>
        </p:spPr>
        <p:txBody>
          <a:bodyPr wrap="square" lIns="0" tIns="0" rIns="0" bIns="0" rtlCol="0" anchor="ctr"/>
          <a:lstStyle/>
          <a:p>
            <a:pPr indent="0" marL="0">
              <a:buNone/>
            </a:pPr>
            <a:r>
              <a:rPr lang="en-US" sz="1100" dirty="0">
                <a:solidFill>
                  <a:srgbClr val="6B5D4F"/>
                </a:solidFill>
                <a:latin typeface="Arial" pitchFamily="34" charset="0"/>
                <a:ea typeface="Arial" pitchFamily="34" charset="-122"/>
                <a:cs typeface="Arial" pitchFamily="34" charset="-120"/>
              </a:rPr>
              <a:t>guests speak</a:t>
            </a:r>
            <a:endParaRPr lang="en-US" sz="1100" dirty="0"/>
          </a:p>
        </p:txBody>
      </p:sp>
      <p:sp>
        <p:nvSpPr>
          <p:cNvPr id="17" name="Text 15"/>
          <p:cNvSpPr/>
          <p:nvPr/>
        </p:nvSpPr>
        <p:spPr>
          <a:xfrm>
            <a:off x="5029200" y="3392424"/>
            <a:ext cx="1828800" cy="256032"/>
          </a:xfrm>
          <a:prstGeom prst="rect">
            <a:avLst/>
          </a:prstGeom>
          <a:noFill/>
          <a:ln/>
        </p:spPr>
        <p:txBody>
          <a:bodyPr wrap="square" lIns="0" tIns="0" rIns="0" bIns="0" rtlCol="0" anchor="ctr"/>
          <a:lstStyle/>
          <a:p>
            <a:pPr indent="0" marL="0">
              <a:buNone/>
            </a:pPr>
            <a:r>
              <a:rPr lang="en-US" sz="1600" b="1" dirty="0">
                <a:solidFill>
                  <a:srgbClr val="C45A3C"/>
                </a:solidFill>
                <a:latin typeface="Georgia" pitchFamily="34" charset="0"/>
                <a:ea typeface="Georgia" pitchFamily="34" charset="-122"/>
                <a:cs typeface="Georgia" pitchFamily="34" charset="-120"/>
              </a:rPr>
              <a:t>277 pages</a:t>
            </a:r>
            <a:endParaRPr lang="en-US" sz="1600" dirty="0"/>
          </a:p>
        </p:txBody>
      </p:sp>
      <p:sp>
        <p:nvSpPr>
          <p:cNvPr id="18" name="Text 16"/>
          <p:cNvSpPr/>
          <p:nvPr/>
        </p:nvSpPr>
        <p:spPr>
          <a:xfrm>
            <a:off x="6766560" y="3410712"/>
            <a:ext cx="1828800" cy="256032"/>
          </a:xfrm>
          <a:prstGeom prst="rect">
            <a:avLst/>
          </a:prstGeom>
          <a:noFill/>
          <a:ln/>
        </p:spPr>
        <p:txBody>
          <a:bodyPr wrap="square" lIns="0" tIns="0" rIns="0" bIns="0" rtlCol="0" anchor="ctr"/>
          <a:lstStyle/>
          <a:p>
            <a:pPr indent="0" marL="0">
              <a:buNone/>
            </a:pPr>
            <a:r>
              <a:rPr lang="en-US" sz="1100" dirty="0">
                <a:solidFill>
                  <a:srgbClr val="6B5D4F"/>
                </a:solidFill>
                <a:latin typeface="Arial" pitchFamily="34" charset="0"/>
                <a:ea typeface="Arial" pitchFamily="34" charset="-122"/>
                <a:cs typeface="Arial" pitchFamily="34" charset="-120"/>
              </a:rPr>
              <a:t>a traveler sees before booking</a:t>
            </a:r>
            <a:endParaRPr lang="en-US" sz="1100" dirty="0"/>
          </a:p>
        </p:txBody>
      </p:sp>
      <p:sp>
        <p:nvSpPr>
          <p:cNvPr id="19" name="Text 17"/>
          <p:cNvSpPr/>
          <p:nvPr/>
        </p:nvSpPr>
        <p:spPr>
          <a:xfrm>
            <a:off x="5029200" y="3867912"/>
            <a:ext cx="1828800" cy="256032"/>
          </a:xfrm>
          <a:prstGeom prst="rect">
            <a:avLst/>
          </a:prstGeom>
          <a:noFill/>
          <a:ln/>
        </p:spPr>
        <p:txBody>
          <a:bodyPr wrap="square" lIns="0" tIns="0" rIns="0" bIns="0" rtlCol="0" anchor="ctr"/>
          <a:lstStyle/>
          <a:p>
            <a:pPr indent="0" marL="0">
              <a:buNone/>
            </a:pPr>
            <a:r>
              <a:rPr lang="en-US" sz="1600" b="1" dirty="0">
                <a:solidFill>
                  <a:srgbClr val="C45A3C"/>
                </a:solidFill>
                <a:latin typeface="Georgia" pitchFamily="34" charset="0"/>
                <a:ea typeface="Georgia" pitchFamily="34" charset="-122"/>
                <a:cs typeface="Georgia" pitchFamily="34" charset="-120"/>
              </a:rPr>
              <a:t>2.5%</a:t>
            </a:r>
            <a:endParaRPr lang="en-US" sz="1600" dirty="0"/>
          </a:p>
        </p:txBody>
      </p:sp>
      <p:sp>
        <p:nvSpPr>
          <p:cNvPr id="20" name="Text 18"/>
          <p:cNvSpPr/>
          <p:nvPr/>
        </p:nvSpPr>
        <p:spPr>
          <a:xfrm>
            <a:off x="6766560" y="3886200"/>
            <a:ext cx="1828800" cy="256032"/>
          </a:xfrm>
          <a:prstGeom prst="rect">
            <a:avLst/>
          </a:prstGeom>
          <a:noFill/>
          <a:ln/>
        </p:spPr>
        <p:txBody>
          <a:bodyPr wrap="square" lIns="0" tIns="0" rIns="0" bIns="0" rtlCol="0" anchor="ctr"/>
          <a:lstStyle/>
          <a:p>
            <a:pPr indent="0" marL="0">
              <a:buNone/>
            </a:pPr>
            <a:r>
              <a:rPr lang="en-US" sz="1100" dirty="0">
                <a:solidFill>
                  <a:srgbClr val="6B5D4F"/>
                </a:solidFill>
                <a:latin typeface="Arial" pitchFamily="34" charset="0"/>
                <a:ea typeface="Arial" pitchFamily="34" charset="-122"/>
                <a:cs typeface="Arial" pitchFamily="34" charset="-120"/>
              </a:rPr>
              <a:t>of revenue spent on marketing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3/10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What Marco Is Building</a:t>
            </a:r>
            <a:endParaRPr lang="en-US" sz="2800" dirty="0"/>
          </a:p>
        </p:txBody>
      </p:sp>
      <p:sp>
        <p:nvSpPr>
          <p:cNvPr id="5" name="Text 3"/>
          <p:cNvSpPr/>
          <p:nvPr/>
        </p:nvSpPr>
        <p:spPr>
          <a:xfrm>
            <a:off x="548640" y="777240"/>
            <a:ext cx="7315200" cy="365760"/>
          </a:xfrm>
          <a:prstGeom prst="rect">
            <a:avLst/>
          </a:prstGeom>
          <a:noFill/>
          <a:ln/>
        </p:spPr>
        <p:txBody>
          <a:bodyPr wrap="square" lIns="0" tIns="0" rIns="0" bIns="0" rtlCol="0" anchor="ctr"/>
          <a:lstStyle/>
          <a:p>
            <a:pPr indent="0" marL="0">
              <a:buNone/>
            </a:pPr>
            <a:r>
              <a:rPr lang="en-US" sz="1400" i="1" dirty="0">
                <a:solidFill>
                  <a:srgbClr val="C45A3C"/>
                </a:solidFill>
                <a:latin typeface="Arial" pitchFamily="34" charset="0"/>
                <a:ea typeface="Arial" pitchFamily="34" charset="-122"/>
                <a:cs typeface="Arial" pitchFamily="34" charset="-120"/>
              </a:rPr>
              <a:t>A virtual marketing colleague for every hotel on earth</a:t>
            </a:r>
            <a:endParaRPr lang="en-US" sz="1400" dirty="0"/>
          </a:p>
        </p:txBody>
      </p:sp>
      <p:sp>
        <p:nvSpPr>
          <p:cNvPr id="6" name="Shape 4"/>
          <p:cNvSpPr/>
          <p:nvPr/>
        </p:nvSpPr>
        <p:spPr>
          <a:xfrm>
            <a:off x="457200" y="1325880"/>
            <a:ext cx="8229600" cy="1234440"/>
          </a:xfrm>
          <a:prstGeom prst="roundRect">
            <a:avLst>
              <a:gd name="adj" fmla="val 8889"/>
            </a:avLst>
          </a:prstGeom>
          <a:solidFill>
            <a:srgbClr val="FDF5E8"/>
          </a:solidFill>
          <a:ln/>
        </p:spPr>
      </p:sp>
      <p:pic>
        <p:nvPicPr>
          <p:cNvPr id="7" name="Image 0" descr="preencoded.png">    </p:cNvPr>
          <p:cNvPicPr>
            <a:picLocks noChangeAspect="1"/>
          </p:cNvPicPr>
          <p:nvPr/>
        </p:nvPicPr>
        <p:blipFill>
          <a:blip r:embed="rId1"/>
          <a:stretch>
            <a:fillRect/>
          </a:stretch>
        </p:blipFill>
        <p:spPr>
          <a:xfrm>
            <a:off x="731520" y="1508760"/>
            <a:ext cx="320040" cy="320040"/>
          </a:xfrm>
          <a:prstGeom prst="rect">
            <a:avLst/>
          </a:prstGeom>
        </p:spPr>
      </p:pic>
      <p:sp>
        <p:nvSpPr>
          <p:cNvPr id="8" name="Text 5"/>
          <p:cNvSpPr/>
          <p:nvPr/>
        </p:nvSpPr>
        <p:spPr>
          <a:xfrm>
            <a:off x="1143000" y="1463040"/>
            <a:ext cx="3657600" cy="320040"/>
          </a:xfrm>
          <a:prstGeom prst="rect">
            <a:avLst/>
          </a:prstGeom>
          <a:noFill/>
          <a:ln/>
        </p:spPr>
        <p:txBody>
          <a:bodyPr wrap="square" lIns="0" tIns="0" rIns="0" bIns="0" rtlCol="0" anchor="ctr"/>
          <a:lstStyle/>
          <a:p>
            <a:pPr indent="0" marL="0">
              <a:buNone/>
            </a:pPr>
            <a:r>
              <a:rPr lang="en-US" sz="1200" b="1" dirty="0">
                <a:solidFill>
                  <a:srgbClr val="A07020"/>
                </a:solidFill>
                <a:latin typeface="Arial" pitchFamily="34" charset="0"/>
                <a:ea typeface="Arial" pitchFamily="34" charset="-122"/>
                <a:cs typeface="Arial" pitchFamily="34" charset="-120"/>
              </a:rPr>
              <a:t>In Victorinox terms:</a:t>
            </a:r>
            <a:endParaRPr lang="en-US" sz="1200" dirty="0"/>
          </a:p>
        </p:txBody>
      </p:sp>
      <p:sp>
        <p:nvSpPr>
          <p:cNvPr id="9" name="Text 6"/>
          <p:cNvSpPr/>
          <p:nvPr/>
        </p:nvSpPr>
        <p:spPr>
          <a:xfrm>
            <a:off x="731520" y="1874520"/>
            <a:ext cx="7680960" cy="594360"/>
          </a:xfrm>
          <a:prstGeom prst="rect">
            <a:avLst/>
          </a:prstGeom>
          <a:noFill/>
          <a:ln/>
        </p:spPr>
        <p:txBody>
          <a:bodyPr wrap="square" lIns="0" tIns="0" rIns="0" bIns="0" rtlCol="0" anchor="ctr"/>
          <a:lstStyle/>
          <a:p>
            <a:pPr indent="0" marL="0">
              <a:lnSpc>
                <a:spcPct val="130000"/>
              </a:lnSpc>
              <a:buNone/>
            </a:pPr>
            <a:r>
              <a:rPr lang="en-US" sz="1150" dirty="0">
                <a:solidFill>
                  <a:srgbClr val="2C2418"/>
                </a:solidFill>
                <a:latin typeface="Arial" pitchFamily="34" charset="0"/>
                <a:ea typeface="Arial" pitchFamily="34" charset="-122"/>
                <a:cs typeface="Arial" pitchFamily="34" charset="-120"/>
              </a:rPr>
              <a:t>Imagine an AI that already knows who buys Swiss Army knives in Japan vs Germany, what they say about them online, what competitors are doing, and writes the marketing copy for each audience in their language — every month, automatically. The person at Victorinox just reviews and hits publish.</a:t>
            </a:r>
            <a:endParaRPr lang="en-US" sz="1150" dirty="0"/>
          </a:p>
        </p:txBody>
      </p:sp>
      <p:sp>
        <p:nvSpPr>
          <p:cNvPr id="10" name="Shape 7"/>
          <p:cNvSpPr/>
          <p:nvPr/>
        </p:nvSpPr>
        <p:spPr>
          <a:xfrm>
            <a:off x="457200" y="2788920"/>
            <a:ext cx="2651760" cy="2148840"/>
          </a:xfrm>
          <a:prstGeom prst="roundRect">
            <a:avLst>
              <a:gd name="adj" fmla="val 5106"/>
            </a:avLst>
          </a:prstGeom>
          <a:solidFill>
            <a:srgbClr val="FFFFFF"/>
          </a:solidFill>
          <a:ln/>
          <a:effectLst>
            <a:outerShdw sx="100000" sy="100000" kx="0" ky="0" algn="bl" rotWithShape="0" blurRad="76200" dist="254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685800" y="2971800"/>
            <a:ext cx="320040" cy="320040"/>
          </a:xfrm>
          <a:prstGeom prst="rect">
            <a:avLst/>
          </a:prstGeom>
        </p:spPr>
      </p:pic>
      <p:sp>
        <p:nvSpPr>
          <p:cNvPr id="12" name="Text 8"/>
          <p:cNvSpPr/>
          <p:nvPr/>
        </p:nvSpPr>
        <p:spPr>
          <a:xfrm>
            <a:off x="1097280" y="2971800"/>
            <a:ext cx="1828800" cy="320040"/>
          </a:xfrm>
          <a:prstGeom prst="rect">
            <a:avLst/>
          </a:prstGeom>
          <a:noFill/>
          <a:ln/>
        </p:spPr>
        <p:txBody>
          <a:bodyPr wrap="square" lIns="0" tIns="0" rIns="0" bIns="0" rtlCol="0" anchor="ctr"/>
          <a:lstStyle/>
          <a:p>
            <a:pPr indent="0" marL="0">
              <a:buNone/>
            </a:pPr>
            <a:r>
              <a:rPr lang="en-US" sz="1600" b="1" dirty="0">
                <a:solidFill>
                  <a:srgbClr val="2C2418"/>
                </a:solidFill>
                <a:latin typeface="Georgia" pitchFamily="34" charset="0"/>
                <a:ea typeface="Georgia" pitchFamily="34" charset="-122"/>
                <a:cs typeface="Georgia" pitchFamily="34" charset="-120"/>
              </a:rPr>
              <a:t>Understands</a:t>
            </a:r>
            <a:endParaRPr lang="en-US" sz="1600" dirty="0"/>
          </a:p>
        </p:txBody>
      </p:sp>
      <p:sp>
        <p:nvSpPr>
          <p:cNvPr id="13" name="Text 9"/>
          <p:cNvSpPr/>
          <p:nvPr/>
        </p:nvSpPr>
        <p:spPr>
          <a:xfrm>
            <a:off x="685800" y="3474720"/>
            <a:ext cx="2286000" cy="1325880"/>
          </a:xfrm>
          <a:prstGeom prst="rect">
            <a:avLst/>
          </a:prstGeom>
          <a:noFill/>
          <a:ln/>
        </p:spPr>
        <p:txBody>
          <a:bodyPr wrap="square" lIns="0" tIns="0" rIns="0" bIns="0" rtlCol="0" anchor="ctr"/>
          <a:lstStyle/>
          <a:p>
            <a:pPr indent="0" marL="0">
              <a:lnSpc>
                <a:spcPct val="135000"/>
              </a:lnSpc>
              <a:buNone/>
            </a:pPr>
            <a:r>
              <a:rPr lang="en-US" sz="1100" dirty="0">
                <a:solidFill>
                  <a:srgbClr val="6B5D4F"/>
                </a:solidFill>
                <a:latin typeface="Arial" pitchFamily="34" charset="0"/>
                <a:ea typeface="Arial" pitchFamily="34" charset="-122"/>
                <a:cs typeface="Arial" pitchFamily="34" charset="-120"/>
              </a:rPr>
              <a:t>Reads every review in every</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language. Knows the guests.</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Knows the competitors.</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Knows the market.</a:t>
            </a:r>
            <a:endParaRPr lang="en-US" sz="1100" dirty="0"/>
          </a:p>
        </p:txBody>
      </p:sp>
      <p:sp>
        <p:nvSpPr>
          <p:cNvPr id="14" name="Shape 10"/>
          <p:cNvSpPr/>
          <p:nvPr/>
        </p:nvSpPr>
        <p:spPr>
          <a:xfrm>
            <a:off x="3337560" y="2788920"/>
            <a:ext cx="2651760" cy="2148840"/>
          </a:xfrm>
          <a:prstGeom prst="roundRect">
            <a:avLst>
              <a:gd name="adj" fmla="val 5106"/>
            </a:avLst>
          </a:prstGeom>
          <a:solidFill>
            <a:srgbClr val="FFFFFF"/>
          </a:solidFill>
          <a:ln/>
          <a:effectLst>
            <a:outerShdw sx="100000" sy="100000" kx="0" ky="0" algn="bl" rotWithShape="0" blurRad="76200" dist="254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3566160" y="2971800"/>
            <a:ext cx="320040" cy="320040"/>
          </a:xfrm>
          <a:prstGeom prst="rect">
            <a:avLst/>
          </a:prstGeom>
        </p:spPr>
      </p:pic>
      <p:sp>
        <p:nvSpPr>
          <p:cNvPr id="16" name="Text 11"/>
          <p:cNvSpPr/>
          <p:nvPr/>
        </p:nvSpPr>
        <p:spPr>
          <a:xfrm>
            <a:off x="3977640" y="2971800"/>
            <a:ext cx="1828800" cy="320040"/>
          </a:xfrm>
          <a:prstGeom prst="rect">
            <a:avLst/>
          </a:prstGeom>
          <a:noFill/>
          <a:ln/>
        </p:spPr>
        <p:txBody>
          <a:bodyPr wrap="square" lIns="0" tIns="0" rIns="0" bIns="0" rtlCol="0" anchor="ctr"/>
          <a:lstStyle/>
          <a:p>
            <a:pPr indent="0" marL="0">
              <a:buNone/>
            </a:pPr>
            <a:r>
              <a:rPr lang="en-US" sz="1600" b="1" dirty="0">
                <a:solidFill>
                  <a:srgbClr val="2C2418"/>
                </a:solidFill>
                <a:latin typeface="Georgia" pitchFamily="34" charset="0"/>
                <a:ea typeface="Georgia" pitchFamily="34" charset="-122"/>
                <a:cs typeface="Georgia" pitchFamily="34" charset="-120"/>
              </a:rPr>
              <a:t>Decides</a:t>
            </a:r>
            <a:endParaRPr lang="en-US" sz="1600" dirty="0"/>
          </a:p>
        </p:txBody>
      </p:sp>
      <p:sp>
        <p:nvSpPr>
          <p:cNvPr id="17" name="Text 12"/>
          <p:cNvSpPr/>
          <p:nvPr/>
        </p:nvSpPr>
        <p:spPr>
          <a:xfrm>
            <a:off x="3566160" y="3474720"/>
            <a:ext cx="2286000" cy="1325880"/>
          </a:xfrm>
          <a:prstGeom prst="rect">
            <a:avLst/>
          </a:prstGeom>
          <a:noFill/>
          <a:ln/>
        </p:spPr>
        <p:txBody>
          <a:bodyPr wrap="square" lIns="0" tIns="0" rIns="0" bIns="0" rtlCol="0" anchor="ctr"/>
          <a:lstStyle/>
          <a:p>
            <a:pPr indent="0" marL="0">
              <a:lnSpc>
                <a:spcPct val="135000"/>
              </a:lnSpc>
              <a:buNone/>
            </a:pPr>
            <a:r>
              <a:rPr lang="en-US" sz="1100" dirty="0">
                <a:solidFill>
                  <a:srgbClr val="6B5D4F"/>
                </a:solidFill>
                <a:latin typeface="Arial" pitchFamily="34" charset="0"/>
                <a:ea typeface="Arial" pitchFamily="34" charset="-122"/>
                <a:cs typeface="Arial" pitchFamily="34" charset="-120"/>
              </a:rPr>
              <a:t>Tells the hotel: this week,</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focus on THIS. Not 50 ideas.</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5 ranked priorities.</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Based on real data.</a:t>
            </a:r>
            <a:endParaRPr lang="en-US" sz="1100" dirty="0"/>
          </a:p>
        </p:txBody>
      </p:sp>
      <p:sp>
        <p:nvSpPr>
          <p:cNvPr id="18" name="Shape 13"/>
          <p:cNvSpPr/>
          <p:nvPr/>
        </p:nvSpPr>
        <p:spPr>
          <a:xfrm>
            <a:off x="6217920" y="2788920"/>
            <a:ext cx="2651760" cy="2148840"/>
          </a:xfrm>
          <a:prstGeom prst="roundRect">
            <a:avLst>
              <a:gd name="adj" fmla="val 5106"/>
            </a:avLst>
          </a:prstGeom>
          <a:solidFill>
            <a:srgbClr val="FFFFFF"/>
          </a:solidFill>
          <a:ln/>
          <a:effectLst>
            <a:outerShdw sx="100000" sy="100000" kx="0" ky="0" algn="bl" rotWithShape="0" blurRad="76200" dist="25400" dir="8100000">
              <a:srgbClr val="000000">
                <a:alpha val="6000"/>
              </a:srgbClr>
            </a:outerShdw>
          </a:effectLst>
        </p:spPr>
      </p:sp>
      <p:pic>
        <p:nvPicPr>
          <p:cNvPr id="19" name="Image 3" descr="preencoded.png">    </p:cNvPr>
          <p:cNvPicPr>
            <a:picLocks noChangeAspect="1"/>
          </p:cNvPicPr>
          <p:nvPr/>
        </p:nvPicPr>
        <p:blipFill>
          <a:blip r:embed="rId4"/>
          <a:stretch>
            <a:fillRect/>
          </a:stretch>
        </p:blipFill>
        <p:spPr>
          <a:xfrm>
            <a:off x="6446520" y="2971800"/>
            <a:ext cx="320040" cy="320040"/>
          </a:xfrm>
          <a:prstGeom prst="rect">
            <a:avLst/>
          </a:prstGeom>
        </p:spPr>
      </p:pic>
      <p:sp>
        <p:nvSpPr>
          <p:cNvPr id="20" name="Text 14"/>
          <p:cNvSpPr/>
          <p:nvPr/>
        </p:nvSpPr>
        <p:spPr>
          <a:xfrm>
            <a:off x="6858000" y="2971800"/>
            <a:ext cx="1828800" cy="320040"/>
          </a:xfrm>
          <a:prstGeom prst="rect">
            <a:avLst/>
          </a:prstGeom>
          <a:noFill/>
          <a:ln/>
        </p:spPr>
        <p:txBody>
          <a:bodyPr wrap="square" lIns="0" tIns="0" rIns="0" bIns="0" rtlCol="0" anchor="ctr"/>
          <a:lstStyle/>
          <a:p>
            <a:pPr indent="0" marL="0">
              <a:buNone/>
            </a:pPr>
            <a:r>
              <a:rPr lang="en-US" sz="1600" b="1" dirty="0">
                <a:solidFill>
                  <a:srgbClr val="2C2418"/>
                </a:solidFill>
                <a:latin typeface="Georgia" pitchFamily="34" charset="0"/>
                <a:ea typeface="Georgia" pitchFamily="34" charset="-122"/>
                <a:cs typeface="Georgia" pitchFamily="34" charset="-120"/>
              </a:rPr>
              <a:t>Produces</a:t>
            </a:r>
            <a:endParaRPr lang="en-US" sz="1600" dirty="0"/>
          </a:p>
        </p:txBody>
      </p:sp>
      <p:sp>
        <p:nvSpPr>
          <p:cNvPr id="21" name="Text 15"/>
          <p:cNvSpPr/>
          <p:nvPr/>
        </p:nvSpPr>
        <p:spPr>
          <a:xfrm>
            <a:off x="6446520" y="3474720"/>
            <a:ext cx="2286000" cy="1325880"/>
          </a:xfrm>
          <a:prstGeom prst="rect">
            <a:avLst/>
          </a:prstGeom>
          <a:noFill/>
          <a:ln/>
        </p:spPr>
        <p:txBody>
          <a:bodyPr wrap="square" lIns="0" tIns="0" rIns="0" bIns="0" rtlCol="0" anchor="ctr"/>
          <a:lstStyle/>
          <a:p>
            <a:pPr indent="0" marL="0">
              <a:lnSpc>
                <a:spcPct val="135000"/>
              </a:lnSpc>
              <a:buNone/>
            </a:pPr>
            <a:r>
              <a:rPr lang="en-US" sz="1100" dirty="0">
                <a:solidFill>
                  <a:srgbClr val="6B5D4F"/>
                </a:solidFill>
                <a:latin typeface="Arial" pitchFamily="34" charset="0"/>
                <a:ea typeface="Arial" pitchFamily="34" charset="-122"/>
                <a:cs typeface="Arial" pitchFamily="34" charset="-120"/>
              </a:rPr>
              <a:t>Writes the newsletter, the</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social post, the website copy.</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In the right language, for the</a:t>
            </a:r>
            <a:endParaRPr lang="en-US" sz="1100" dirty="0"/>
          </a:p>
          <a:p>
            <a:pPr indent="0" marL="0">
              <a:lnSpc>
                <a:spcPct val="135000"/>
              </a:lnSpc>
              <a:buNone/>
            </a:pPr>
            <a:r>
              <a:rPr lang="en-US" sz="1100" dirty="0">
                <a:solidFill>
                  <a:srgbClr val="6B5D4F"/>
                </a:solidFill>
                <a:latin typeface="Arial" pitchFamily="34" charset="0"/>
                <a:ea typeface="Arial" pitchFamily="34" charset="-122"/>
                <a:cs typeface="Arial" pitchFamily="34" charset="-120"/>
              </a:rPr>
              <a:t>right guest. Ready to publish.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4/10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What Was Built Today</a:t>
            </a:r>
            <a:endParaRPr lang="en-US" sz="2800" dirty="0"/>
          </a:p>
        </p:txBody>
      </p:sp>
      <p:sp>
        <p:nvSpPr>
          <p:cNvPr id="5" name="Text 3"/>
          <p:cNvSpPr/>
          <p:nvPr/>
        </p:nvSpPr>
        <p:spPr>
          <a:xfrm>
            <a:off x="548640" y="777240"/>
            <a:ext cx="7315200" cy="365760"/>
          </a:xfrm>
          <a:prstGeom prst="rect">
            <a:avLst/>
          </a:prstGeom>
          <a:noFill/>
          <a:ln/>
        </p:spPr>
        <p:txBody>
          <a:bodyPr wrap="square" lIns="0" tIns="0" rIns="0" bIns="0" rtlCol="0" anchor="ctr"/>
          <a:lstStyle/>
          <a:p>
            <a:pPr indent="0" marL="0">
              <a:buNone/>
            </a:pPr>
            <a:r>
              <a:rPr lang="en-US" sz="1400" i="1" dirty="0">
                <a:solidFill>
                  <a:srgbClr val="C45A3C"/>
                </a:solidFill>
                <a:latin typeface="Arial" pitchFamily="34" charset="0"/>
                <a:ea typeface="Arial" pitchFamily="34" charset="-122"/>
                <a:cs typeface="Arial" pitchFamily="34" charset="-120"/>
              </a:rPr>
              <a:t>The world's most detailed hotel intelligence database</a:t>
            </a:r>
            <a:endParaRPr lang="en-US" sz="1400" dirty="0"/>
          </a:p>
        </p:txBody>
      </p:sp>
      <p:sp>
        <p:nvSpPr>
          <p:cNvPr id="6" name="Shape 4"/>
          <p:cNvSpPr/>
          <p:nvPr/>
        </p:nvSpPr>
        <p:spPr>
          <a:xfrm>
            <a:off x="457200" y="1280160"/>
            <a:ext cx="8229600" cy="1005840"/>
          </a:xfrm>
          <a:prstGeom prst="roundRect">
            <a:avLst>
              <a:gd name="adj" fmla="val 10909"/>
            </a:avLst>
          </a:prstGeom>
          <a:solidFill>
            <a:srgbClr val="FDF5E8"/>
          </a:solidFill>
          <a:ln/>
        </p:spPr>
      </p:sp>
      <p:pic>
        <p:nvPicPr>
          <p:cNvPr id="7" name="Image 0" descr="preencoded.png">    </p:cNvPr>
          <p:cNvPicPr>
            <a:picLocks noChangeAspect="1"/>
          </p:cNvPicPr>
          <p:nvPr/>
        </p:nvPicPr>
        <p:blipFill>
          <a:blip r:embed="rId1"/>
          <a:stretch>
            <a:fillRect/>
          </a:stretch>
        </p:blipFill>
        <p:spPr>
          <a:xfrm>
            <a:off x="731520" y="1417320"/>
            <a:ext cx="274320" cy="274320"/>
          </a:xfrm>
          <a:prstGeom prst="rect">
            <a:avLst/>
          </a:prstGeom>
        </p:spPr>
      </p:pic>
      <p:sp>
        <p:nvSpPr>
          <p:cNvPr id="8" name="Text 5"/>
          <p:cNvSpPr/>
          <p:nvPr/>
        </p:nvSpPr>
        <p:spPr>
          <a:xfrm>
            <a:off x="1097280" y="1389888"/>
            <a:ext cx="7315200" cy="777240"/>
          </a:xfrm>
          <a:prstGeom prst="rect">
            <a:avLst/>
          </a:prstGeom>
          <a:noFill/>
          <a:ln/>
        </p:spPr>
        <p:txBody>
          <a:bodyPr wrap="square" lIns="0" tIns="0" rIns="0" bIns="0" rtlCol="0" anchor="ctr"/>
          <a:lstStyle/>
          <a:p>
            <a:pPr indent="0" marL="0">
              <a:lnSpc>
                <a:spcPct val="130000"/>
              </a:lnSpc>
              <a:buNone/>
            </a:pPr>
            <a:r>
              <a:rPr lang="en-US" sz="1150" dirty="0">
                <a:solidFill>
                  <a:srgbClr val="2C2418"/>
                </a:solidFill>
                <a:latin typeface="Arial" pitchFamily="34" charset="0"/>
                <a:ea typeface="Arial" pitchFamily="34" charset="-122"/>
                <a:cs typeface="Arial" pitchFamily="34" charset="-120"/>
              </a:rPr>
              <a:t>Like building a file on every knife retailer in the world — who their customers are, what they sell, what people say about them, who their competitors are, what languages they need — before you ever call them.</a:t>
            </a:r>
            <a:endParaRPr lang="en-US" sz="1150" dirty="0"/>
          </a:p>
        </p:txBody>
      </p:sp>
      <p:sp>
        <p:nvSpPr>
          <p:cNvPr id="9" name="Shape 6"/>
          <p:cNvSpPr/>
          <p:nvPr/>
        </p:nvSpPr>
        <p:spPr>
          <a:xfrm>
            <a:off x="457200" y="251460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10" name="Image 1" descr="preencoded.png">    </p:cNvPr>
          <p:cNvPicPr>
            <a:picLocks noChangeAspect="1"/>
          </p:cNvPicPr>
          <p:nvPr/>
        </p:nvPicPr>
        <p:blipFill>
          <a:blip r:embed="rId2"/>
          <a:stretch>
            <a:fillRect/>
          </a:stretch>
        </p:blipFill>
        <p:spPr>
          <a:xfrm>
            <a:off x="594360" y="2651760"/>
            <a:ext cx="256032" cy="256032"/>
          </a:xfrm>
          <a:prstGeom prst="rect">
            <a:avLst/>
          </a:prstGeom>
        </p:spPr>
      </p:pic>
      <p:sp>
        <p:nvSpPr>
          <p:cNvPr id="11" name="Text 7"/>
          <p:cNvSpPr/>
          <p:nvPr/>
        </p:nvSpPr>
        <p:spPr>
          <a:xfrm>
            <a:off x="914400" y="262432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1.5 million hotels</a:t>
            </a:r>
            <a:endParaRPr lang="en-US" sz="1200" dirty="0"/>
          </a:p>
        </p:txBody>
      </p:sp>
      <p:sp>
        <p:nvSpPr>
          <p:cNvPr id="12" name="Text 8"/>
          <p:cNvSpPr/>
          <p:nvPr/>
        </p:nvSpPr>
        <p:spPr>
          <a:xfrm>
            <a:off x="594360" y="297180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Every hotel on TripAdvisor</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and Google, worldwide</a:t>
            </a:r>
            <a:endParaRPr lang="en-US" sz="1000" dirty="0"/>
          </a:p>
        </p:txBody>
      </p:sp>
      <p:sp>
        <p:nvSpPr>
          <p:cNvPr id="13" name="Shape 9"/>
          <p:cNvSpPr/>
          <p:nvPr/>
        </p:nvSpPr>
        <p:spPr>
          <a:xfrm>
            <a:off x="3337560" y="251460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14" name="Image 2" descr="preencoded.png">    </p:cNvPr>
          <p:cNvPicPr>
            <a:picLocks noChangeAspect="1"/>
          </p:cNvPicPr>
          <p:nvPr/>
        </p:nvPicPr>
        <p:blipFill>
          <a:blip r:embed="rId3"/>
          <a:stretch>
            <a:fillRect/>
          </a:stretch>
        </p:blipFill>
        <p:spPr>
          <a:xfrm>
            <a:off x="3474720" y="2651760"/>
            <a:ext cx="256032" cy="256032"/>
          </a:xfrm>
          <a:prstGeom prst="rect">
            <a:avLst/>
          </a:prstGeom>
        </p:spPr>
      </p:pic>
      <p:sp>
        <p:nvSpPr>
          <p:cNvPr id="15" name="Text 10"/>
          <p:cNvSpPr/>
          <p:nvPr/>
        </p:nvSpPr>
        <p:spPr>
          <a:xfrm>
            <a:off x="3794760" y="262432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240+ data points each</a:t>
            </a:r>
            <a:endParaRPr lang="en-US" sz="1200" dirty="0"/>
          </a:p>
        </p:txBody>
      </p:sp>
      <p:sp>
        <p:nvSpPr>
          <p:cNvPr id="16" name="Text 11"/>
          <p:cNvSpPr/>
          <p:nvPr/>
        </p:nvSpPr>
        <p:spPr>
          <a:xfrm>
            <a:off x="3474720" y="297180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Ratings, reviews, guest types,</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amenities, competitors, AI visibility</a:t>
            </a:r>
            <a:endParaRPr lang="en-US" sz="1000" dirty="0"/>
          </a:p>
        </p:txBody>
      </p:sp>
      <p:sp>
        <p:nvSpPr>
          <p:cNvPr id="17" name="Shape 12"/>
          <p:cNvSpPr/>
          <p:nvPr/>
        </p:nvSpPr>
        <p:spPr>
          <a:xfrm>
            <a:off x="6217920" y="251460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18" name="Image 3" descr="preencoded.png">    </p:cNvPr>
          <p:cNvPicPr>
            <a:picLocks noChangeAspect="1"/>
          </p:cNvPicPr>
          <p:nvPr/>
        </p:nvPicPr>
        <p:blipFill>
          <a:blip r:embed="rId4"/>
          <a:stretch>
            <a:fillRect/>
          </a:stretch>
        </p:blipFill>
        <p:spPr>
          <a:xfrm>
            <a:off x="6355080" y="2651760"/>
            <a:ext cx="256032" cy="256032"/>
          </a:xfrm>
          <a:prstGeom prst="rect">
            <a:avLst/>
          </a:prstGeom>
        </p:spPr>
      </p:pic>
      <p:sp>
        <p:nvSpPr>
          <p:cNvPr id="19" name="Text 13"/>
          <p:cNvSpPr/>
          <p:nvPr/>
        </p:nvSpPr>
        <p:spPr>
          <a:xfrm>
            <a:off x="6675120" y="262432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Reviews in every language</a:t>
            </a:r>
            <a:endParaRPr lang="en-US" sz="1200" dirty="0"/>
          </a:p>
        </p:txBody>
      </p:sp>
      <p:sp>
        <p:nvSpPr>
          <p:cNvPr id="20" name="Text 14"/>
          <p:cNvSpPr/>
          <p:nvPr/>
        </p:nvSpPr>
        <p:spPr>
          <a:xfrm>
            <a:off x="6355080" y="297180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What guests actually say — in</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German, Japanese, Arabic, all of them</a:t>
            </a:r>
            <a:endParaRPr lang="en-US" sz="1000" dirty="0"/>
          </a:p>
        </p:txBody>
      </p:sp>
      <p:sp>
        <p:nvSpPr>
          <p:cNvPr id="21" name="Shape 15"/>
          <p:cNvSpPr/>
          <p:nvPr/>
        </p:nvSpPr>
        <p:spPr>
          <a:xfrm>
            <a:off x="457200" y="370332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22" name="Image 4" descr="preencoded.png">    </p:cNvPr>
          <p:cNvPicPr>
            <a:picLocks noChangeAspect="1"/>
          </p:cNvPicPr>
          <p:nvPr/>
        </p:nvPicPr>
        <p:blipFill>
          <a:blip r:embed="rId5"/>
          <a:stretch>
            <a:fillRect/>
          </a:stretch>
        </p:blipFill>
        <p:spPr>
          <a:xfrm>
            <a:off x="594360" y="3840480"/>
            <a:ext cx="256032" cy="256032"/>
          </a:xfrm>
          <a:prstGeom prst="rect">
            <a:avLst/>
          </a:prstGeom>
        </p:spPr>
      </p:pic>
      <p:sp>
        <p:nvSpPr>
          <p:cNvPr id="23" name="Text 16"/>
          <p:cNvSpPr/>
          <p:nvPr/>
        </p:nvSpPr>
        <p:spPr>
          <a:xfrm>
            <a:off x="914400" y="381304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Real guest segments</a:t>
            </a:r>
            <a:endParaRPr lang="en-US" sz="1200" dirty="0"/>
          </a:p>
        </p:txBody>
      </p:sp>
      <p:sp>
        <p:nvSpPr>
          <p:cNvPr id="24" name="Text 17"/>
          <p:cNvSpPr/>
          <p:nvPr/>
        </p:nvSpPr>
        <p:spPr>
          <a:xfrm>
            <a:off x="594360" y="416052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Not invented personas — actual</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data on who stays where and why</a:t>
            </a:r>
            <a:endParaRPr lang="en-US" sz="1000" dirty="0"/>
          </a:p>
        </p:txBody>
      </p:sp>
      <p:sp>
        <p:nvSpPr>
          <p:cNvPr id="25" name="Shape 18"/>
          <p:cNvSpPr/>
          <p:nvPr/>
        </p:nvSpPr>
        <p:spPr>
          <a:xfrm>
            <a:off x="3337560" y="370332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26" name="Image 5" descr="preencoded.png">    </p:cNvPr>
          <p:cNvPicPr>
            <a:picLocks noChangeAspect="1"/>
          </p:cNvPicPr>
          <p:nvPr/>
        </p:nvPicPr>
        <p:blipFill>
          <a:blip r:embed="rId6"/>
          <a:stretch>
            <a:fillRect/>
          </a:stretch>
        </p:blipFill>
        <p:spPr>
          <a:xfrm>
            <a:off x="3474720" y="3840480"/>
            <a:ext cx="256032" cy="256032"/>
          </a:xfrm>
          <a:prstGeom prst="rect">
            <a:avLst/>
          </a:prstGeom>
        </p:spPr>
      </p:pic>
      <p:sp>
        <p:nvSpPr>
          <p:cNvPr id="27" name="Text 19"/>
          <p:cNvSpPr/>
          <p:nvPr/>
        </p:nvSpPr>
        <p:spPr>
          <a:xfrm>
            <a:off x="3794760" y="381304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65+ data sources mapped</a:t>
            </a:r>
            <a:endParaRPr lang="en-US" sz="1200" dirty="0"/>
          </a:p>
        </p:txBody>
      </p:sp>
      <p:sp>
        <p:nvSpPr>
          <p:cNvPr id="28" name="Text 20"/>
          <p:cNvSpPr/>
          <p:nvPr/>
        </p:nvSpPr>
        <p:spPr>
          <a:xfrm>
            <a:off x="3474720" y="416052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TripAdvisor, Google, Booking,</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Expedia, OpenStreetMap, and more</a:t>
            </a:r>
            <a:endParaRPr lang="en-US" sz="1000" dirty="0"/>
          </a:p>
        </p:txBody>
      </p:sp>
      <p:sp>
        <p:nvSpPr>
          <p:cNvPr id="29" name="Shape 21"/>
          <p:cNvSpPr/>
          <p:nvPr/>
        </p:nvSpPr>
        <p:spPr>
          <a:xfrm>
            <a:off x="6217920" y="3703320"/>
            <a:ext cx="2651760" cy="1051560"/>
          </a:xfrm>
          <a:prstGeom prst="roundRect">
            <a:avLst>
              <a:gd name="adj" fmla="val 8696"/>
            </a:avLst>
          </a:prstGeom>
          <a:solidFill>
            <a:srgbClr val="FFFFFF"/>
          </a:solidFill>
          <a:ln/>
          <a:effectLst>
            <a:outerShdw sx="100000" sy="100000" kx="0" ky="0" algn="bl" rotWithShape="0" blurRad="50800" dist="12700" dir="8100000">
              <a:srgbClr val="000000">
                <a:alpha val="5000"/>
              </a:srgbClr>
            </a:outerShdw>
          </a:effectLst>
        </p:spPr>
      </p:sp>
      <p:pic>
        <p:nvPicPr>
          <p:cNvPr id="30" name="Image 6" descr="preencoded.png">    </p:cNvPr>
          <p:cNvPicPr>
            <a:picLocks noChangeAspect="1"/>
          </p:cNvPicPr>
          <p:nvPr/>
        </p:nvPicPr>
        <p:blipFill>
          <a:blip r:embed="rId7"/>
          <a:stretch>
            <a:fillRect/>
          </a:stretch>
        </p:blipFill>
        <p:spPr>
          <a:xfrm>
            <a:off x="6355080" y="3840480"/>
            <a:ext cx="256032" cy="256032"/>
          </a:xfrm>
          <a:prstGeom prst="rect">
            <a:avLst/>
          </a:prstGeom>
        </p:spPr>
      </p:pic>
      <p:sp>
        <p:nvSpPr>
          <p:cNvPr id="31" name="Text 22"/>
          <p:cNvSpPr/>
          <p:nvPr/>
        </p:nvSpPr>
        <p:spPr>
          <a:xfrm>
            <a:off x="6675120" y="3813048"/>
            <a:ext cx="201168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AI visibility scores</a:t>
            </a:r>
            <a:endParaRPr lang="en-US" sz="1200" dirty="0"/>
          </a:p>
        </p:txBody>
      </p:sp>
      <p:sp>
        <p:nvSpPr>
          <p:cNvPr id="32" name="Text 23"/>
          <p:cNvSpPr/>
          <p:nvPr/>
        </p:nvSpPr>
        <p:spPr>
          <a:xfrm>
            <a:off x="6355080" y="4160520"/>
            <a:ext cx="2377440" cy="502920"/>
          </a:xfrm>
          <a:prstGeom prst="rect">
            <a:avLst/>
          </a:prstGeom>
          <a:noFill/>
          <a:ln/>
        </p:spPr>
        <p:txBody>
          <a:bodyPr wrap="square" lIns="0" tIns="0" rIns="0" bIns="0" rtlCol="0" anchor="ctr"/>
          <a:lstStyle/>
          <a:p>
            <a:pPr indent="0" marL="0">
              <a:lnSpc>
                <a:spcPct val="125000"/>
              </a:lnSpc>
              <a:buNone/>
            </a:pPr>
            <a:r>
              <a:rPr lang="en-US" sz="1000" dirty="0">
                <a:solidFill>
                  <a:srgbClr val="6B5D4F"/>
                </a:solidFill>
                <a:latin typeface="Arial" pitchFamily="34" charset="0"/>
                <a:ea typeface="Arial" pitchFamily="34" charset="-122"/>
                <a:cs typeface="Arial" pitchFamily="34" charset="-120"/>
              </a:rPr>
              <a:t>How ChatGPT sees each hotel —</a:t>
            </a:r>
            <a:endParaRPr lang="en-US" sz="1000" dirty="0"/>
          </a:p>
          <a:p>
            <a:pPr indent="0" marL="0">
              <a:lnSpc>
                <a:spcPct val="125000"/>
              </a:lnSpc>
              <a:buNone/>
            </a:pPr>
            <a:r>
              <a:rPr lang="en-US" sz="1000" dirty="0">
                <a:solidFill>
                  <a:srgbClr val="6B5D4F"/>
                </a:solidFill>
                <a:latin typeface="Arial" pitchFamily="34" charset="0"/>
                <a:ea typeface="Arial" pitchFamily="34" charset="-122"/>
                <a:cs typeface="Arial" pitchFamily="34" charset="-120"/>
              </a:rPr>
              <a:t>84% are completely invisible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5/10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Why This Changes Everything</a:t>
            </a:r>
            <a:endParaRPr lang="en-US" sz="2800" dirty="0"/>
          </a:p>
        </p:txBody>
      </p:sp>
      <p:sp>
        <p:nvSpPr>
          <p:cNvPr id="5" name="Text 3"/>
          <p:cNvSpPr/>
          <p:nvPr/>
        </p:nvSpPr>
        <p:spPr>
          <a:xfrm>
            <a:off x="548640" y="1051560"/>
            <a:ext cx="3840480" cy="365760"/>
          </a:xfrm>
          <a:prstGeom prst="rect">
            <a:avLst/>
          </a:prstGeom>
          <a:noFill/>
          <a:ln/>
        </p:spPr>
        <p:txBody>
          <a:bodyPr wrap="square" lIns="0" tIns="0" rIns="0" bIns="0" rtlCol="0" anchor="ctr"/>
          <a:lstStyle/>
          <a:p>
            <a:pPr indent="0" marL="0">
              <a:buNone/>
            </a:pPr>
            <a:r>
              <a:rPr lang="en-US" sz="1500" b="1" dirty="0">
                <a:solidFill>
                  <a:srgbClr val="B5392A"/>
                </a:solidFill>
                <a:latin typeface="Georgia" pitchFamily="34" charset="0"/>
                <a:ea typeface="Georgia" pitchFamily="34" charset="-122"/>
                <a:cs typeface="Georgia" pitchFamily="34" charset="-120"/>
              </a:rPr>
              <a:t>Without the dataset</a:t>
            </a:r>
            <a:endParaRPr lang="en-US" sz="1500" dirty="0"/>
          </a:p>
        </p:txBody>
      </p:sp>
      <p:sp>
        <p:nvSpPr>
          <p:cNvPr id="6" name="Text 4"/>
          <p:cNvSpPr/>
          <p:nvPr/>
        </p:nvSpPr>
        <p:spPr>
          <a:xfrm>
            <a:off x="4846320" y="1051560"/>
            <a:ext cx="3840480" cy="365760"/>
          </a:xfrm>
          <a:prstGeom prst="rect">
            <a:avLst/>
          </a:prstGeom>
          <a:noFill/>
          <a:ln/>
        </p:spPr>
        <p:txBody>
          <a:bodyPr wrap="square" lIns="0" tIns="0" rIns="0" bIns="0" rtlCol="0" anchor="ctr"/>
          <a:lstStyle/>
          <a:p>
            <a:pPr indent="0" marL="0">
              <a:buNone/>
            </a:pPr>
            <a:r>
              <a:rPr lang="en-US" sz="1500" b="1" dirty="0">
                <a:solidFill>
                  <a:srgbClr val="3D7A4A"/>
                </a:solidFill>
                <a:latin typeface="Georgia" pitchFamily="34" charset="0"/>
                <a:ea typeface="Georgia" pitchFamily="34" charset="-122"/>
                <a:cs typeface="Georgia" pitchFamily="34" charset="-120"/>
              </a:rPr>
              <a:t>With the dataset</a:t>
            </a:r>
            <a:endParaRPr lang="en-US" sz="1500" dirty="0"/>
          </a:p>
        </p:txBody>
      </p:sp>
      <p:sp>
        <p:nvSpPr>
          <p:cNvPr id="7" name="Shape 5"/>
          <p:cNvSpPr/>
          <p:nvPr/>
        </p:nvSpPr>
        <p:spPr>
          <a:xfrm>
            <a:off x="457200" y="1508760"/>
            <a:ext cx="3931920" cy="502920"/>
          </a:xfrm>
          <a:prstGeom prst="roundRect">
            <a:avLst>
              <a:gd name="adj" fmla="val 14545"/>
            </a:avLst>
          </a:prstGeom>
          <a:solidFill>
            <a:srgbClr val="FDF0ED"/>
          </a:solidFill>
          <a:ln/>
        </p:spPr>
      </p:sp>
      <p:sp>
        <p:nvSpPr>
          <p:cNvPr id="8" name="Text 6"/>
          <p:cNvSpPr/>
          <p:nvPr/>
        </p:nvSpPr>
        <p:spPr>
          <a:xfrm>
            <a:off x="640080" y="1554480"/>
            <a:ext cx="3566160" cy="411480"/>
          </a:xfrm>
          <a:prstGeom prst="rect">
            <a:avLst/>
          </a:prstGeom>
          <a:noFill/>
          <a:ln/>
        </p:spPr>
        <p:txBody>
          <a:bodyPr wrap="square" lIns="0" tIns="0" rIns="0" bIns="0" rtlCol="0" anchor="ctr"/>
          <a:lstStyle/>
          <a:p>
            <a:pPr indent="0" marL="0">
              <a:buNone/>
            </a:pPr>
            <a:r>
              <a:rPr lang="en-US" sz="1100" dirty="0">
                <a:solidFill>
                  <a:srgbClr val="B5392A"/>
                </a:solidFill>
                <a:latin typeface="Arial" pitchFamily="34" charset="0"/>
                <a:ea typeface="Arial" pitchFamily="34" charset="-122"/>
                <a:cs typeface="Arial" pitchFamily="34" charset="-120"/>
              </a:rPr>
              <a:t>Hotel signs up → 4-8 weeks of setup</a:t>
            </a:r>
            <a:endParaRPr lang="en-US" sz="1100" dirty="0"/>
          </a:p>
        </p:txBody>
      </p:sp>
      <p:sp>
        <p:nvSpPr>
          <p:cNvPr id="9" name="Shape 7"/>
          <p:cNvSpPr/>
          <p:nvPr/>
        </p:nvSpPr>
        <p:spPr>
          <a:xfrm>
            <a:off x="4754880" y="1508760"/>
            <a:ext cx="3931920" cy="502920"/>
          </a:xfrm>
          <a:prstGeom prst="roundRect">
            <a:avLst>
              <a:gd name="adj" fmla="val 14545"/>
            </a:avLst>
          </a:prstGeom>
          <a:solidFill>
            <a:srgbClr val="EDF5EF"/>
          </a:solidFill>
          <a:ln/>
        </p:spPr>
      </p:sp>
      <p:sp>
        <p:nvSpPr>
          <p:cNvPr id="10" name="Text 8"/>
          <p:cNvSpPr/>
          <p:nvPr/>
        </p:nvSpPr>
        <p:spPr>
          <a:xfrm>
            <a:off x="4937760" y="1554480"/>
            <a:ext cx="3566160" cy="411480"/>
          </a:xfrm>
          <a:prstGeom prst="rect">
            <a:avLst/>
          </a:prstGeom>
          <a:noFill/>
          <a:ln/>
        </p:spPr>
        <p:txBody>
          <a:bodyPr wrap="square" lIns="0" tIns="0" rIns="0" bIns="0" rtlCol="0" anchor="ctr"/>
          <a:lstStyle/>
          <a:p>
            <a:pPr indent="0" marL="0">
              <a:buNone/>
            </a:pPr>
            <a:r>
              <a:rPr lang="en-US" sz="1100" dirty="0">
                <a:solidFill>
                  <a:srgbClr val="3D7A4A"/>
                </a:solidFill>
                <a:latin typeface="Arial" pitchFamily="34" charset="0"/>
                <a:ea typeface="Arial" pitchFamily="34" charset="-122"/>
                <a:cs typeface="Arial" pitchFamily="34" charset="-120"/>
              </a:rPr>
              <a:t>Hotel signs up → intelligence is already there</a:t>
            </a:r>
            <a:endParaRPr lang="en-US" sz="1100" dirty="0"/>
          </a:p>
        </p:txBody>
      </p:sp>
      <p:sp>
        <p:nvSpPr>
          <p:cNvPr id="11" name="Shape 9"/>
          <p:cNvSpPr/>
          <p:nvPr/>
        </p:nvSpPr>
        <p:spPr>
          <a:xfrm>
            <a:off x="457200" y="2103120"/>
            <a:ext cx="3931920" cy="502920"/>
          </a:xfrm>
          <a:prstGeom prst="roundRect">
            <a:avLst>
              <a:gd name="adj" fmla="val 14545"/>
            </a:avLst>
          </a:prstGeom>
          <a:solidFill>
            <a:srgbClr val="FDF0ED"/>
          </a:solidFill>
          <a:ln/>
        </p:spPr>
      </p:sp>
      <p:sp>
        <p:nvSpPr>
          <p:cNvPr id="12" name="Text 10"/>
          <p:cNvSpPr/>
          <p:nvPr/>
        </p:nvSpPr>
        <p:spPr>
          <a:xfrm>
            <a:off x="640080" y="2148840"/>
            <a:ext cx="3566160" cy="411480"/>
          </a:xfrm>
          <a:prstGeom prst="rect">
            <a:avLst/>
          </a:prstGeom>
          <a:noFill/>
          <a:ln/>
        </p:spPr>
        <p:txBody>
          <a:bodyPr wrap="square" lIns="0" tIns="0" rIns="0" bIns="0" rtlCol="0" anchor="ctr"/>
          <a:lstStyle/>
          <a:p>
            <a:pPr indent="0" marL="0">
              <a:buNone/>
            </a:pPr>
            <a:r>
              <a:rPr lang="en-US" sz="1100" dirty="0">
                <a:solidFill>
                  <a:srgbClr val="B5392A"/>
                </a:solidFill>
                <a:latin typeface="Arial" pitchFamily="34" charset="0"/>
                <a:ea typeface="Arial" pitchFamily="34" charset="-122"/>
                <a:cs typeface="Arial" pitchFamily="34" charset="-120"/>
              </a:rPr>
              <a:t>Someone manually researches the hotel</a:t>
            </a:r>
            <a:endParaRPr lang="en-US" sz="1100" dirty="0"/>
          </a:p>
        </p:txBody>
      </p:sp>
      <p:sp>
        <p:nvSpPr>
          <p:cNvPr id="13" name="Shape 11"/>
          <p:cNvSpPr/>
          <p:nvPr/>
        </p:nvSpPr>
        <p:spPr>
          <a:xfrm>
            <a:off x="4754880" y="2103120"/>
            <a:ext cx="3931920" cy="502920"/>
          </a:xfrm>
          <a:prstGeom prst="roundRect">
            <a:avLst>
              <a:gd name="adj" fmla="val 14545"/>
            </a:avLst>
          </a:prstGeom>
          <a:solidFill>
            <a:srgbClr val="EDF5EF"/>
          </a:solidFill>
          <a:ln/>
        </p:spPr>
      </p:sp>
      <p:sp>
        <p:nvSpPr>
          <p:cNvPr id="14" name="Text 12"/>
          <p:cNvSpPr/>
          <p:nvPr/>
        </p:nvSpPr>
        <p:spPr>
          <a:xfrm>
            <a:off x="4937760" y="2148840"/>
            <a:ext cx="3566160" cy="411480"/>
          </a:xfrm>
          <a:prstGeom prst="rect">
            <a:avLst/>
          </a:prstGeom>
          <a:noFill/>
          <a:ln/>
        </p:spPr>
        <p:txBody>
          <a:bodyPr wrap="square" lIns="0" tIns="0" rIns="0" bIns="0" rtlCol="0" anchor="ctr"/>
          <a:lstStyle/>
          <a:p>
            <a:pPr indent="0" marL="0">
              <a:buNone/>
            </a:pPr>
            <a:r>
              <a:rPr lang="en-US" sz="1100" dirty="0">
                <a:solidFill>
                  <a:srgbClr val="3D7A4A"/>
                </a:solidFill>
                <a:latin typeface="Arial" pitchFamily="34" charset="0"/>
                <a:ea typeface="Arial" pitchFamily="34" charset="-122"/>
                <a:cs typeface="Arial" pitchFamily="34" charset="-120"/>
              </a:rPr>
              <a:t>AI already knows everything about them</a:t>
            </a:r>
            <a:endParaRPr lang="en-US" sz="1100" dirty="0"/>
          </a:p>
        </p:txBody>
      </p:sp>
      <p:sp>
        <p:nvSpPr>
          <p:cNvPr id="15" name="Shape 13"/>
          <p:cNvSpPr/>
          <p:nvPr/>
        </p:nvSpPr>
        <p:spPr>
          <a:xfrm>
            <a:off x="457200" y="2697480"/>
            <a:ext cx="3931920" cy="502920"/>
          </a:xfrm>
          <a:prstGeom prst="roundRect">
            <a:avLst>
              <a:gd name="adj" fmla="val 14545"/>
            </a:avLst>
          </a:prstGeom>
          <a:solidFill>
            <a:srgbClr val="FDF0ED"/>
          </a:solidFill>
          <a:ln/>
        </p:spPr>
      </p:sp>
      <p:sp>
        <p:nvSpPr>
          <p:cNvPr id="16" name="Text 14"/>
          <p:cNvSpPr/>
          <p:nvPr/>
        </p:nvSpPr>
        <p:spPr>
          <a:xfrm>
            <a:off x="640080" y="2743200"/>
            <a:ext cx="3566160" cy="411480"/>
          </a:xfrm>
          <a:prstGeom prst="rect">
            <a:avLst/>
          </a:prstGeom>
          <a:noFill/>
          <a:ln/>
        </p:spPr>
        <p:txBody>
          <a:bodyPr wrap="square" lIns="0" tIns="0" rIns="0" bIns="0" rtlCol="0" anchor="ctr"/>
          <a:lstStyle/>
          <a:p>
            <a:pPr indent="0" marL="0">
              <a:buNone/>
            </a:pPr>
            <a:r>
              <a:rPr lang="en-US" sz="1100" dirty="0">
                <a:solidFill>
                  <a:srgbClr val="B5392A"/>
                </a:solidFill>
                <a:latin typeface="Arial" pitchFamily="34" charset="0"/>
                <a:ea typeface="Arial" pitchFamily="34" charset="-122"/>
                <a:cs typeface="Arial" pitchFamily="34" charset="-120"/>
              </a:rPr>
              <a:t>Empty dashboard until data accumulates</a:t>
            </a:r>
            <a:endParaRPr lang="en-US" sz="1100" dirty="0"/>
          </a:p>
        </p:txBody>
      </p:sp>
      <p:sp>
        <p:nvSpPr>
          <p:cNvPr id="17" name="Shape 15"/>
          <p:cNvSpPr/>
          <p:nvPr/>
        </p:nvSpPr>
        <p:spPr>
          <a:xfrm>
            <a:off x="4754880" y="2697480"/>
            <a:ext cx="3931920" cy="502920"/>
          </a:xfrm>
          <a:prstGeom prst="roundRect">
            <a:avLst>
              <a:gd name="adj" fmla="val 14545"/>
            </a:avLst>
          </a:prstGeom>
          <a:solidFill>
            <a:srgbClr val="EDF5EF"/>
          </a:solidFill>
          <a:ln/>
        </p:spPr>
      </p:sp>
      <p:sp>
        <p:nvSpPr>
          <p:cNvPr id="18" name="Text 16"/>
          <p:cNvSpPr/>
          <p:nvPr/>
        </p:nvSpPr>
        <p:spPr>
          <a:xfrm>
            <a:off x="4937760" y="2743200"/>
            <a:ext cx="3566160" cy="411480"/>
          </a:xfrm>
          <a:prstGeom prst="rect">
            <a:avLst/>
          </a:prstGeom>
          <a:noFill/>
          <a:ln/>
        </p:spPr>
        <p:txBody>
          <a:bodyPr wrap="square" lIns="0" tIns="0" rIns="0" bIns="0" rtlCol="0" anchor="ctr"/>
          <a:lstStyle/>
          <a:p>
            <a:pPr indent="0" marL="0">
              <a:buNone/>
            </a:pPr>
            <a:r>
              <a:rPr lang="en-US" sz="1100" dirty="0">
                <a:solidFill>
                  <a:srgbClr val="3D7A4A"/>
                </a:solidFill>
                <a:latin typeface="Arial" pitchFamily="34" charset="0"/>
                <a:ea typeface="Arial" pitchFamily="34" charset="-122"/>
                <a:cs typeface="Arial" pitchFamily="34" charset="-120"/>
              </a:rPr>
              <a:t>Day one: here's your competitive position</a:t>
            </a:r>
            <a:endParaRPr lang="en-US" sz="1100" dirty="0"/>
          </a:p>
        </p:txBody>
      </p:sp>
      <p:sp>
        <p:nvSpPr>
          <p:cNvPr id="19" name="Shape 17"/>
          <p:cNvSpPr/>
          <p:nvPr/>
        </p:nvSpPr>
        <p:spPr>
          <a:xfrm>
            <a:off x="457200" y="3291840"/>
            <a:ext cx="3931920" cy="502920"/>
          </a:xfrm>
          <a:prstGeom prst="roundRect">
            <a:avLst>
              <a:gd name="adj" fmla="val 14545"/>
            </a:avLst>
          </a:prstGeom>
          <a:solidFill>
            <a:srgbClr val="FDF0ED"/>
          </a:solidFill>
          <a:ln/>
        </p:spPr>
      </p:sp>
      <p:sp>
        <p:nvSpPr>
          <p:cNvPr id="20" name="Text 18"/>
          <p:cNvSpPr/>
          <p:nvPr/>
        </p:nvSpPr>
        <p:spPr>
          <a:xfrm>
            <a:off x="640080" y="3337560"/>
            <a:ext cx="3566160" cy="411480"/>
          </a:xfrm>
          <a:prstGeom prst="rect">
            <a:avLst/>
          </a:prstGeom>
          <a:noFill/>
          <a:ln/>
        </p:spPr>
        <p:txBody>
          <a:bodyPr wrap="square" lIns="0" tIns="0" rIns="0" bIns="0" rtlCol="0" anchor="ctr"/>
          <a:lstStyle/>
          <a:p>
            <a:pPr indent="0" marL="0">
              <a:buNone/>
            </a:pPr>
            <a:r>
              <a:rPr lang="en-US" sz="1100" dirty="0">
                <a:solidFill>
                  <a:srgbClr val="B5392A"/>
                </a:solidFill>
                <a:latin typeface="Arial" pitchFamily="34" charset="0"/>
                <a:ea typeface="Arial" pitchFamily="34" charset="-122"/>
                <a:cs typeface="Arial" pitchFamily="34" charset="-120"/>
              </a:rPr>
              <a:t>"Come back in 3 months"</a:t>
            </a:r>
            <a:endParaRPr lang="en-US" sz="1100" dirty="0"/>
          </a:p>
        </p:txBody>
      </p:sp>
      <p:sp>
        <p:nvSpPr>
          <p:cNvPr id="21" name="Shape 19"/>
          <p:cNvSpPr/>
          <p:nvPr/>
        </p:nvSpPr>
        <p:spPr>
          <a:xfrm>
            <a:off x="4754880" y="3291840"/>
            <a:ext cx="3931920" cy="502920"/>
          </a:xfrm>
          <a:prstGeom prst="roundRect">
            <a:avLst>
              <a:gd name="adj" fmla="val 14545"/>
            </a:avLst>
          </a:prstGeom>
          <a:solidFill>
            <a:srgbClr val="EDF5EF"/>
          </a:solidFill>
          <a:ln/>
        </p:spPr>
      </p:sp>
      <p:sp>
        <p:nvSpPr>
          <p:cNvPr id="22" name="Text 20"/>
          <p:cNvSpPr/>
          <p:nvPr/>
        </p:nvSpPr>
        <p:spPr>
          <a:xfrm>
            <a:off x="4937760" y="3337560"/>
            <a:ext cx="3566160" cy="411480"/>
          </a:xfrm>
          <a:prstGeom prst="rect">
            <a:avLst/>
          </a:prstGeom>
          <a:noFill/>
          <a:ln/>
        </p:spPr>
        <p:txBody>
          <a:bodyPr wrap="square" lIns="0" tIns="0" rIns="0" bIns="0" rtlCol="0" anchor="ctr"/>
          <a:lstStyle/>
          <a:p>
            <a:pPr indent="0" marL="0">
              <a:buNone/>
            </a:pPr>
            <a:r>
              <a:rPr lang="en-US" sz="1100" dirty="0">
                <a:solidFill>
                  <a:srgbClr val="3D7A4A"/>
                </a:solidFill>
                <a:latin typeface="Arial" pitchFamily="34" charset="0"/>
                <a:ea typeface="Arial" pitchFamily="34" charset="-122"/>
                <a:cs typeface="Arial" pitchFamily="34" charset="-120"/>
              </a:rPr>
              <a:t>"Here's your marketing plan for this month"</a:t>
            </a:r>
            <a:endParaRPr lang="en-US" sz="1100" dirty="0"/>
          </a:p>
        </p:txBody>
      </p:sp>
      <p:sp>
        <p:nvSpPr>
          <p:cNvPr id="23" name="Shape 21"/>
          <p:cNvSpPr/>
          <p:nvPr/>
        </p:nvSpPr>
        <p:spPr>
          <a:xfrm>
            <a:off x="457200" y="3886200"/>
            <a:ext cx="3931920" cy="502920"/>
          </a:xfrm>
          <a:prstGeom prst="roundRect">
            <a:avLst>
              <a:gd name="adj" fmla="val 14545"/>
            </a:avLst>
          </a:prstGeom>
          <a:solidFill>
            <a:srgbClr val="FDF0ED"/>
          </a:solidFill>
          <a:ln/>
        </p:spPr>
      </p:sp>
      <p:sp>
        <p:nvSpPr>
          <p:cNvPr id="24" name="Text 22"/>
          <p:cNvSpPr/>
          <p:nvPr/>
        </p:nvSpPr>
        <p:spPr>
          <a:xfrm>
            <a:off x="640080" y="3931920"/>
            <a:ext cx="3566160" cy="411480"/>
          </a:xfrm>
          <a:prstGeom prst="rect">
            <a:avLst/>
          </a:prstGeom>
          <a:noFill/>
          <a:ln/>
        </p:spPr>
        <p:txBody>
          <a:bodyPr wrap="square" lIns="0" tIns="0" rIns="0" bIns="0" rtlCol="0" anchor="ctr"/>
          <a:lstStyle/>
          <a:p>
            <a:pPr indent="0" marL="0">
              <a:buNone/>
            </a:pPr>
            <a:r>
              <a:rPr lang="en-US" sz="1100" dirty="0">
                <a:solidFill>
                  <a:srgbClr val="B5392A"/>
                </a:solidFill>
                <a:latin typeface="Arial" pitchFamily="34" charset="0"/>
                <a:ea typeface="Arial" pitchFamily="34" charset="-122"/>
                <a:cs typeface="Arial" pitchFamily="34" charset="-120"/>
              </a:rPr>
              <a:t>Adding hotel #500 costs as much as #1</a:t>
            </a:r>
            <a:endParaRPr lang="en-US" sz="1100" dirty="0"/>
          </a:p>
        </p:txBody>
      </p:sp>
      <p:sp>
        <p:nvSpPr>
          <p:cNvPr id="25" name="Shape 23"/>
          <p:cNvSpPr/>
          <p:nvPr/>
        </p:nvSpPr>
        <p:spPr>
          <a:xfrm>
            <a:off x="4754880" y="3886200"/>
            <a:ext cx="3931920" cy="502920"/>
          </a:xfrm>
          <a:prstGeom prst="roundRect">
            <a:avLst>
              <a:gd name="adj" fmla="val 14545"/>
            </a:avLst>
          </a:prstGeom>
          <a:solidFill>
            <a:srgbClr val="EDF5EF"/>
          </a:solidFill>
          <a:ln/>
        </p:spPr>
      </p:sp>
      <p:sp>
        <p:nvSpPr>
          <p:cNvPr id="26" name="Text 24"/>
          <p:cNvSpPr/>
          <p:nvPr/>
        </p:nvSpPr>
        <p:spPr>
          <a:xfrm>
            <a:off x="4937760" y="3931920"/>
            <a:ext cx="3566160" cy="411480"/>
          </a:xfrm>
          <a:prstGeom prst="rect">
            <a:avLst/>
          </a:prstGeom>
          <a:noFill/>
          <a:ln/>
        </p:spPr>
        <p:txBody>
          <a:bodyPr wrap="square" lIns="0" tIns="0" rIns="0" bIns="0" rtlCol="0" anchor="ctr"/>
          <a:lstStyle/>
          <a:p>
            <a:pPr indent="0" marL="0">
              <a:buNone/>
            </a:pPr>
            <a:r>
              <a:rPr lang="en-US" sz="1100" dirty="0">
                <a:solidFill>
                  <a:srgbClr val="3D7A4A"/>
                </a:solidFill>
                <a:latin typeface="Arial" pitchFamily="34" charset="0"/>
                <a:ea typeface="Arial" pitchFamily="34" charset="-122"/>
                <a:cs typeface="Arial" pitchFamily="34" charset="-120"/>
              </a:rPr>
              <a:t>Adding hotel #500 costs essentially zero</a:t>
            </a:r>
            <a:endParaRPr lang="en-US" sz="1100" dirty="0"/>
          </a:p>
        </p:txBody>
      </p:sp>
      <p:sp>
        <p:nvSpPr>
          <p:cNvPr id="27" name="Shape 25"/>
          <p:cNvSpPr/>
          <p:nvPr/>
        </p:nvSpPr>
        <p:spPr>
          <a:xfrm>
            <a:off x="457200" y="4297680"/>
            <a:ext cx="8229600" cy="594360"/>
          </a:xfrm>
          <a:prstGeom prst="roundRect">
            <a:avLst>
              <a:gd name="adj" fmla="val 15385"/>
            </a:avLst>
          </a:prstGeom>
          <a:solidFill>
            <a:srgbClr val="F5EDE4"/>
          </a:solidFill>
          <a:ln/>
        </p:spPr>
      </p:sp>
      <p:sp>
        <p:nvSpPr>
          <p:cNvPr id="28" name="Text 26"/>
          <p:cNvSpPr/>
          <p:nvPr/>
        </p:nvSpPr>
        <p:spPr>
          <a:xfrm>
            <a:off x="731520" y="4343400"/>
            <a:ext cx="7680960" cy="502920"/>
          </a:xfrm>
          <a:prstGeom prst="rect">
            <a:avLst/>
          </a:prstGeom>
          <a:noFill/>
          <a:ln/>
        </p:spPr>
        <p:txBody>
          <a:bodyPr wrap="square" lIns="0" tIns="0" rIns="0" bIns="0" rtlCol="0" anchor="ctr"/>
          <a:lstStyle/>
          <a:p>
            <a:pPr indent="0" marL="0">
              <a:buNone/>
            </a:pPr>
            <a:r>
              <a:rPr lang="en-US" sz="1200" i="1" dirty="0">
                <a:solidFill>
                  <a:srgbClr val="6B5D4F"/>
                </a:solidFill>
                <a:latin typeface="Arial" pitchFamily="34" charset="0"/>
                <a:ea typeface="Arial" pitchFamily="34" charset="-122"/>
                <a:cs typeface="Arial" pitchFamily="34" charset="-120"/>
              </a:rPr>
              <a:t>Like having a detailed customer profile for every retailer BEFORE the sales rep walks 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6/10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What the Hotel Gets Each Month</a:t>
            </a:r>
            <a:endParaRPr lang="en-US" sz="2800" dirty="0"/>
          </a:p>
        </p:txBody>
      </p:sp>
      <p:sp>
        <p:nvSpPr>
          <p:cNvPr id="5" name="Text 3"/>
          <p:cNvSpPr/>
          <p:nvPr/>
        </p:nvSpPr>
        <p:spPr>
          <a:xfrm>
            <a:off x="548640" y="777240"/>
            <a:ext cx="7315200" cy="320040"/>
          </a:xfrm>
          <a:prstGeom prst="rect">
            <a:avLst/>
          </a:prstGeom>
          <a:noFill/>
          <a:ln/>
        </p:spPr>
        <p:txBody>
          <a:bodyPr wrap="square" lIns="0" tIns="0" rIns="0" bIns="0" rtlCol="0" anchor="ctr"/>
          <a:lstStyle/>
          <a:p>
            <a:pPr indent="0" marL="0">
              <a:buNone/>
            </a:pPr>
            <a:r>
              <a:rPr lang="en-US" sz="1400" i="1" dirty="0">
                <a:solidFill>
                  <a:srgbClr val="C45A3C"/>
                </a:solidFill>
                <a:latin typeface="Arial" pitchFamily="34" charset="0"/>
                <a:ea typeface="Arial" pitchFamily="34" charset="-122"/>
                <a:cs typeface="Arial" pitchFamily="34" charset="-120"/>
              </a:rPr>
              <a:t>Not a dashboard. Not a report. The actual work, done.</a:t>
            </a:r>
            <a:endParaRPr lang="en-US" sz="1400" dirty="0"/>
          </a:p>
        </p:txBody>
      </p:sp>
      <p:sp>
        <p:nvSpPr>
          <p:cNvPr id="6" name="Shape 4"/>
          <p:cNvSpPr/>
          <p:nvPr/>
        </p:nvSpPr>
        <p:spPr>
          <a:xfrm>
            <a:off x="457200" y="1280160"/>
            <a:ext cx="8229600" cy="685800"/>
          </a:xfrm>
          <a:prstGeom prst="roundRect">
            <a:avLst>
              <a:gd name="adj" fmla="val 13333"/>
            </a:avLst>
          </a:prstGeom>
          <a:solidFill>
            <a:srgbClr val="FFFFFF"/>
          </a:solidFill>
          <a:ln/>
          <a:effectLst>
            <a:outerShdw sx="100000" sy="100000" kx="0" ky="0" algn="bl" rotWithShape="0" blurRad="50800" dist="12700" dir="8100000">
              <a:srgbClr val="000000">
                <a:alpha val="4000"/>
              </a:srgbClr>
            </a:outerShdw>
          </a:effectLst>
        </p:spPr>
      </p:sp>
      <p:sp>
        <p:nvSpPr>
          <p:cNvPr id="7" name="Shape 5"/>
          <p:cNvSpPr/>
          <p:nvPr/>
        </p:nvSpPr>
        <p:spPr>
          <a:xfrm>
            <a:off x="640080" y="1435608"/>
            <a:ext cx="365760" cy="365760"/>
          </a:xfrm>
          <a:prstGeom prst="ellipse">
            <a:avLst/>
          </a:prstGeom>
          <a:solidFill>
            <a:srgbClr val="C45A3C"/>
          </a:solidFill>
          <a:ln/>
        </p:spPr>
      </p:sp>
      <p:sp>
        <p:nvSpPr>
          <p:cNvPr id="8" name="Text 6"/>
          <p:cNvSpPr/>
          <p:nvPr/>
        </p:nvSpPr>
        <p:spPr>
          <a:xfrm>
            <a:off x="640080" y="1435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188720" y="1325880"/>
            <a:ext cx="2011680" cy="59436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"What changed"</a:t>
            </a:r>
            <a:endParaRPr lang="en-US" sz="1400" dirty="0"/>
          </a:p>
        </p:txBody>
      </p:sp>
      <p:sp>
        <p:nvSpPr>
          <p:cNvPr id="10" name="Text 8"/>
          <p:cNvSpPr/>
          <p:nvPr/>
        </p:nvSpPr>
        <p:spPr>
          <a:xfrm>
            <a:off x="3291840" y="1325880"/>
            <a:ext cx="5029200" cy="594360"/>
          </a:xfrm>
          <a:prstGeom prst="rect">
            <a:avLst/>
          </a:prstGeom>
          <a:noFill/>
          <a:ln/>
        </p:spPr>
        <p:txBody>
          <a:bodyPr wrap="square" lIns="0" tIns="0" rIns="0" bIns="0" rtlCol="0" anchor="ctr"/>
          <a:lstStyle/>
          <a:p>
            <a:pPr indent="0" marL="0">
              <a:lnSpc>
                <a:spcPct val="125000"/>
              </a:lnSpc>
              <a:buNone/>
            </a:pPr>
            <a:r>
              <a:rPr lang="en-US" sz="1050" dirty="0">
                <a:solidFill>
                  <a:srgbClr val="6B5D4F"/>
                </a:solidFill>
                <a:latin typeface="Arial" pitchFamily="34" charset="0"/>
                <a:ea typeface="Arial" pitchFamily="34" charset="-122"/>
                <a:cs typeface="Arial" pitchFamily="34" charset="-120"/>
              </a:rPr>
              <a:t>Your competitor added a spa.</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German bookings are up 40%.</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There's a conference in 6 weeks.</a:t>
            </a:r>
            <a:endParaRPr lang="en-US" sz="1050" dirty="0"/>
          </a:p>
        </p:txBody>
      </p:sp>
      <p:sp>
        <p:nvSpPr>
          <p:cNvPr id="11" name="Shape 9"/>
          <p:cNvSpPr/>
          <p:nvPr/>
        </p:nvSpPr>
        <p:spPr>
          <a:xfrm>
            <a:off x="457200" y="2029968"/>
            <a:ext cx="8229600" cy="685800"/>
          </a:xfrm>
          <a:prstGeom prst="roundRect">
            <a:avLst>
              <a:gd name="adj" fmla="val 13333"/>
            </a:avLst>
          </a:prstGeom>
          <a:solidFill>
            <a:srgbClr val="FFFFFF"/>
          </a:solidFill>
          <a:ln/>
          <a:effectLst>
            <a:outerShdw sx="100000" sy="100000" kx="0" ky="0" algn="bl" rotWithShape="0" blurRad="50800" dist="12700" dir="8100000">
              <a:srgbClr val="000000">
                <a:alpha val="4000"/>
              </a:srgbClr>
            </a:outerShdw>
          </a:effectLst>
        </p:spPr>
      </p:sp>
      <p:sp>
        <p:nvSpPr>
          <p:cNvPr id="12" name="Shape 10"/>
          <p:cNvSpPr/>
          <p:nvPr/>
        </p:nvSpPr>
        <p:spPr>
          <a:xfrm>
            <a:off x="640080" y="2185416"/>
            <a:ext cx="365760" cy="365760"/>
          </a:xfrm>
          <a:prstGeom prst="ellipse">
            <a:avLst/>
          </a:prstGeom>
          <a:solidFill>
            <a:srgbClr val="C45A3C"/>
          </a:solidFill>
          <a:ln/>
        </p:spPr>
      </p:sp>
      <p:sp>
        <p:nvSpPr>
          <p:cNvPr id="13" name="Text 11"/>
          <p:cNvSpPr/>
          <p:nvPr/>
        </p:nvSpPr>
        <p:spPr>
          <a:xfrm>
            <a:off x="64008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1188720" y="2075688"/>
            <a:ext cx="2011680" cy="59436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"Who matters now"</a:t>
            </a:r>
            <a:endParaRPr lang="en-US" sz="1400" dirty="0"/>
          </a:p>
        </p:txBody>
      </p:sp>
      <p:sp>
        <p:nvSpPr>
          <p:cNvPr id="15" name="Text 13"/>
          <p:cNvSpPr/>
          <p:nvPr/>
        </p:nvSpPr>
        <p:spPr>
          <a:xfrm>
            <a:off x="3291840" y="2075688"/>
            <a:ext cx="5029200" cy="594360"/>
          </a:xfrm>
          <a:prstGeom prst="rect">
            <a:avLst/>
          </a:prstGeom>
          <a:noFill/>
          <a:ln/>
        </p:spPr>
        <p:txBody>
          <a:bodyPr wrap="square" lIns="0" tIns="0" rIns="0" bIns="0" rtlCol="0" anchor="ctr"/>
          <a:lstStyle/>
          <a:p>
            <a:pPr indent="0" marL="0">
              <a:lnSpc>
                <a:spcPct val="125000"/>
              </a:lnSpc>
              <a:buNone/>
            </a:pPr>
            <a:r>
              <a:rPr lang="en-US" sz="1050" dirty="0">
                <a:solidFill>
                  <a:srgbClr val="6B5D4F"/>
                </a:solidFill>
                <a:latin typeface="Arial" pitchFamily="34" charset="0"/>
                <a:ea typeface="Arial" pitchFamily="34" charset="-122"/>
                <a:cs typeface="Arial" pitchFamily="34" charset="-120"/>
              </a:rPr>
              <a:t>Target Italian couples this month.</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Chinese honeymooners are shifting</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to your competitor.</a:t>
            </a:r>
            <a:endParaRPr lang="en-US" sz="1050" dirty="0"/>
          </a:p>
        </p:txBody>
      </p:sp>
      <p:sp>
        <p:nvSpPr>
          <p:cNvPr id="16" name="Shape 14"/>
          <p:cNvSpPr/>
          <p:nvPr/>
        </p:nvSpPr>
        <p:spPr>
          <a:xfrm>
            <a:off x="457200" y="2779776"/>
            <a:ext cx="8229600" cy="685800"/>
          </a:xfrm>
          <a:prstGeom prst="roundRect">
            <a:avLst>
              <a:gd name="adj" fmla="val 13333"/>
            </a:avLst>
          </a:prstGeom>
          <a:solidFill>
            <a:srgbClr val="FFFFFF"/>
          </a:solidFill>
          <a:ln/>
          <a:effectLst>
            <a:outerShdw sx="100000" sy="100000" kx="0" ky="0" algn="bl" rotWithShape="0" blurRad="50800" dist="12700" dir="8100000">
              <a:srgbClr val="000000">
                <a:alpha val="4000"/>
              </a:srgbClr>
            </a:outerShdw>
          </a:effectLst>
        </p:spPr>
      </p:sp>
      <p:sp>
        <p:nvSpPr>
          <p:cNvPr id="17" name="Shape 15"/>
          <p:cNvSpPr/>
          <p:nvPr/>
        </p:nvSpPr>
        <p:spPr>
          <a:xfrm>
            <a:off x="640080" y="2935224"/>
            <a:ext cx="365760" cy="365760"/>
          </a:xfrm>
          <a:prstGeom prst="ellipse">
            <a:avLst/>
          </a:prstGeom>
          <a:solidFill>
            <a:srgbClr val="C45A3C"/>
          </a:solidFill>
          <a:ln/>
        </p:spPr>
      </p:sp>
      <p:sp>
        <p:nvSpPr>
          <p:cNvPr id="18" name="Text 16"/>
          <p:cNvSpPr/>
          <p:nvPr/>
        </p:nvSpPr>
        <p:spPr>
          <a:xfrm>
            <a:off x="640080" y="29352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1188720" y="2825496"/>
            <a:ext cx="2011680" cy="59436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"Where you're losing"</a:t>
            </a:r>
            <a:endParaRPr lang="en-US" sz="1400" dirty="0"/>
          </a:p>
        </p:txBody>
      </p:sp>
      <p:sp>
        <p:nvSpPr>
          <p:cNvPr id="20" name="Text 18"/>
          <p:cNvSpPr/>
          <p:nvPr/>
        </p:nvSpPr>
        <p:spPr>
          <a:xfrm>
            <a:off x="3291840" y="2825496"/>
            <a:ext cx="5029200" cy="594360"/>
          </a:xfrm>
          <a:prstGeom prst="rect">
            <a:avLst/>
          </a:prstGeom>
          <a:noFill/>
          <a:ln/>
        </p:spPr>
        <p:txBody>
          <a:bodyPr wrap="square" lIns="0" tIns="0" rIns="0" bIns="0" rtlCol="0" anchor="ctr"/>
          <a:lstStyle/>
          <a:p>
            <a:pPr indent="0" marL="0">
              <a:lnSpc>
                <a:spcPct val="125000"/>
              </a:lnSpc>
              <a:buNone/>
            </a:pPr>
            <a:r>
              <a:rPr lang="en-US" sz="1050" dirty="0">
                <a:solidFill>
                  <a:srgbClr val="6B5D4F"/>
                </a:solidFill>
                <a:latin typeface="Arial" pitchFamily="34" charset="0"/>
                <a:ea typeface="Arial" pitchFamily="34" charset="-122"/>
                <a:cs typeface="Arial" pitchFamily="34" charset="-120"/>
              </a:rPr>
              <a:t>Park Hyatt beats you on check-in</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speed, parking, and wifi — the 3</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things German travelers care about.</a:t>
            </a:r>
            <a:endParaRPr lang="en-US" sz="1050" dirty="0"/>
          </a:p>
        </p:txBody>
      </p:sp>
      <p:sp>
        <p:nvSpPr>
          <p:cNvPr id="21" name="Shape 19"/>
          <p:cNvSpPr/>
          <p:nvPr/>
        </p:nvSpPr>
        <p:spPr>
          <a:xfrm>
            <a:off x="457200" y="3529584"/>
            <a:ext cx="8229600" cy="685800"/>
          </a:xfrm>
          <a:prstGeom prst="roundRect">
            <a:avLst>
              <a:gd name="adj" fmla="val 13333"/>
            </a:avLst>
          </a:prstGeom>
          <a:solidFill>
            <a:srgbClr val="FFFFFF"/>
          </a:solidFill>
          <a:ln/>
          <a:effectLst>
            <a:outerShdw sx="100000" sy="100000" kx="0" ky="0" algn="bl" rotWithShape="0" blurRad="50800" dist="12700" dir="8100000">
              <a:srgbClr val="000000">
                <a:alpha val="4000"/>
              </a:srgbClr>
            </a:outerShdw>
          </a:effectLst>
        </p:spPr>
      </p:sp>
      <p:sp>
        <p:nvSpPr>
          <p:cNvPr id="22" name="Shape 20"/>
          <p:cNvSpPr/>
          <p:nvPr/>
        </p:nvSpPr>
        <p:spPr>
          <a:xfrm>
            <a:off x="640080" y="3685032"/>
            <a:ext cx="365760" cy="365760"/>
          </a:xfrm>
          <a:prstGeom prst="ellipse">
            <a:avLst/>
          </a:prstGeom>
          <a:solidFill>
            <a:srgbClr val="C45A3C"/>
          </a:solidFill>
          <a:ln/>
        </p:spPr>
      </p:sp>
      <p:sp>
        <p:nvSpPr>
          <p:cNvPr id="23" name="Text 21"/>
          <p:cNvSpPr/>
          <p:nvPr/>
        </p:nvSpPr>
        <p:spPr>
          <a:xfrm>
            <a:off x="640080" y="36850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1188720" y="3575304"/>
            <a:ext cx="2011680" cy="59436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"What to do about it"</a:t>
            </a:r>
            <a:endParaRPr lang="en-US" sz="1400" dirty="0"/>
          </a:p>
        </p:txBody>
      </p:sp>
      <p:sp>
        <p:nvSpPr>
          <p:cNvPr id="25" name="Text 23"/>
          <p:cNvSpPr/>
          <p:nvPr/>
        </p:nvSpPr>
        <p:spPr>
          <a:xfrm>
            <a:off x="3291840" y="3575304"/>
            <a:ext cx="5029200" cy="594360"/>
          </a:xfrm>
          <a:prstGeom prst="rect">
            <a:avLst/>
          </a:prstGeom>
          <a:noFill/>
          <a:ln/>
        </p:spPr>
        <p:txBody>
          <a:bodyPr wrap="square" lIns="0" tIns="0" rIns="0" bIns="0" rtlCol="0" anchor="ctr"/>
          <a:lstStyle/>
          <a:p>
            <a:pPr indent="0" marL="0">
              <a:lnSpc>
                <a:spcPct val="125000"/>
              </a:lnSpc>
              <a:buNone/>
            </a:pPr>
            <a:r>
              <a:rPr lang="en-US" sz="1050" dirty="0">
                <a:solidFill>
                  <a:srgbClr val="6B5D4F"/>
                </a:solidFill>
                <a:latin typeface="Arial" pitchFamily="34" charset="0"/>
                <a:ea typeface="Arial" pitchFamily="34" charset="-122"/>
                <a:cs typeface="Arial" pitchFamily="34" charset="-120"/>
              </a:rPr>
              <a:t>5 priorities. This week: fix the</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suite descriptions in German.</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Next week: publish the event page.</a:t>
            </a:r>
            <a:endParaRPr lang="en-US" sz="1050" dirty="0"/>
          </a:p>
        </p:txBody>
      </p:sp>
      <p:sp>
        <p:nvSpPr>
          <p:cNvPr id="26" name="Shape 24"/>
          <p:cNvSpPr/>
          <p:nvPr/>
        </p:nvSpPr>
        <p:spPr>
          <a:xfrm>
            <a:off x="457200" y="4279392"/>
            <a:ext cx="8229600" cy="685800"/>
          </a:xfrm>
          <a:prstGeom prst="roundRect">
            <a:avLst>
              <a:gd name="adj" fmla="val 13333"/>
            </a:avLst>
          </a:prstGeom>
          <a:solidFill>
            <a:srgbClr val="FFFFFF"/>
          </a:solidFill>
          <a:ln/>
          <a:effectLst>
            <a:outerShdw sx="100000" sy="100000" kx="0" ky="0" algn="bl" rotWithShape="0" blurRad="50800" dist="12700" dir="8100000">
              <a:srgbClr val="000000">
                <a:alpha val="4000"/>
              </a:srgbClr>
            </a:outerShdw>
          </a:effectLst>
        </p:spPr>
      </p:sp>
      <p:sp>
        <p:nvSpPr>
          <p:cNvPr id="27" name="Shape 25"/>
          <p:cNvSpPr/>
          <p:nvPr/>
        </p:nvSpPr>
        <p:spPr>
          <a:xfrm>
            <a:off x="640080" y="4434840"/>
            <a:ext cx="365760" cy="365760"/>
          </a:xfrm>
          <a:prstGeom prst="ellipse">
            <a:avLst/>
          </a:prstGeom>
          <a:solidFill>
            <a:srgbClr val="C45A3C"/>
          </a:solidFill>
          <a:ln/>
        </p:spPr>
      </p:sp>
      <p:sp>
        <p:nvSpPr>
          <p:cNvPr id="28" name="Text 26"/>
          <p:cNvSpPr/>
          <p:nvPr/>
        </p:nvSpPr>
        <p:spPr>
          <a:xfrm>
            <a:off x="640080"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1188720" y="4325112"/>
            <a:ext cx="2011680" cy="59436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"Here it is, done"</a:t>
            </a:r>
            <a:endParaRPr lang="en-US" sz="1400" dirty="0"/>
          </a:p>
        </p:txBody>
      </p:sp>
      <p:sp>
        <p:nvSpPr>
          <p:cNvPr id="30" name="Text 28"/>
          <p:cNvSpPr/>
          <p:nvPr/>
        </p:nvSpPr>
        <p:spPr>
          <a:xfrm>
            <a:off x="3291840" y="4325112"/>
            <a:ext cx="5029200" cy="594360"/>
          </a:xfrm>
          <a:prstGeom prst="rect">
            <a:avLst/>
          </a:prstGeom>
          <a:noFill/>
          <a:ln/>
        </p:spPr>
        <p:txBody>
          <a:bodyPr wrap="square" lIns="0" tIns="0" rIns="0" bIns="0" rtlCol="0" anchor="ctr"/>
          <a:lstStyle/>
          <a:p>
            <a:pPr indent="0" marL="0">
              <a:lnSpc>
                <a:spcPct val="125000"/>
              </a:lnSpc>
              <a:buNone/>
            </a:pPr>
            <a:r>
              <a:rPr lang="en-US" sz="1050" dirty="0">
                <a:solidFill>
                  <a:srgbClr val="6B5D4F"/>
                </a:solidFill>
                <a:latin typeface="Arial" pitchFamily="34" charset="0"/>
                <a:ea typeface="Arial" pitchFamily="34" charset="-122"/>
                <a:cs typeface="Arial" pitchFamily="34" charset="-120"/>
              </a:rPr>
              <a:t>Newsletter copy. Social posts.</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Website updates. In 7 languages.</a:t>
            </a:r>
            <a:endParaRPr lang="en-US" sz="1050" dirty="0"/>
          </a:p>
          <a:p>
            <a:pPr indent="0" marL="0">
              <a:lnSpc>
                <a:spcPct val="125000"/>
              </a:lnSpc>
              <a:buNone/>
            </a:pPr>
            <a:r>
              <a:rPr lang="en-US" sz="1050" dirty="0">
                <a:solidFill>
                  <a:srgbClr val="6B5D4F"/>
                </a:solidFill>
                <a:latin typeface="Arial" pitchFamily="34" charset="0"/>
                <a:ea typeface="Arial" pitchFamily="34" charset="-122"/>
                <a:cs typeface="Arial" pitchFamily="34" charset="-120"/>
              </a:rPr>
              <a:t>Ready to review and publish.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7/10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The Market Opportunity</a:t>
            </a:r>
            <a:endParaRPr lang="en-US" sz="2800" dirty="0"/>
          </a:p>
        </p:txBody>
      </p:sp>
      <p:sp>
        <p:nvSpPr>
          <p:cNvPr id="5" name="Shape 3"/>
          <p:cNvSpPr/>
          <p:nvPr/>
        </p:nvSpPr>
        <p:spPr>
          <a:xfrm>
            <a:off x="457200" y="1005840"/>
            <a:ext cx="2651760" cy="1463040"/>
          </a:xfrm>
          <a:prstGeom prst="roundRect">
            <a:avLst>
              <a:gd name="adj" fmla="val 7500"/>
            </a:avLst>
          </a:prstGeom>
          <a:solidFill>
            <a:srgbClr val="FFFFFF"/>
          </a:solidFill>
          <a:ln/>
          <a:effectLst>
            <a:outerShdw sx="100000" sy="100000" kx="0" ky="0" algn="bl" rotWithShape="0" blurRad="76200" dist="25400" dir="8100000">
              <a:srgbClr val="000000">
                <a:alpha val="6000"/>
              </a:srgbClr>
            </a:outerShdw>
          </a:effectLst>
        </p:spPr>
      </p:sp>
      <p:sp>
        <p:nvSpPr>
          <p:cNvPr id="6" name="Text 4"/>
          <p:cNvSpPr/>
          <p:nvPr/>
        </p:nvSpPr>
        <p:spPr>
          <a:xfrm>
            <a:off x="457200" y="1143000"/>
            <a:ext cx="2651760" cy="640080"/>
          </a:xfrm>
          <a:prstGeom prst="rect">
            <a:avLst/>
          </a:prstGeom>
          <a:noFill/>
          <a:ln/>
        </p:spPr>
        <p:txBody>
          <a:bodyPr wrap="square" lIns="0" tIns="0" rIns="0" bIns="0" rtlCol="0" anchor="ctr"/>
          <a:lstStyle/>
          <a:p>
            <a:pPr algn="ctr" indent="0" marL="0">
              <a:buNone/>
            </a:pPr>
            <a:r>
              <a:rPr lang="en-US" sz="3200" b="1" dirty="0">
                <a:solidFill>
                  <a:srgbClr val="C45A3C"/>
                </a:solidFill>
                <a:latin typeface="Georgia" pitchFamily="34" charset="0"/>
                <a:ea typeface="Georgia" pitchFamily="34" charset="-122"/>
                <a:cs typeface="Georgia" pitchFamily="34" charset="-120"/>
              </a:rPr>
              <a:t>37%</a:t>
            </a:r>
            <a:endParaRPr lang="en-US" sz="3200" dirty="0"/>
          </a:p>
        </p:txBody>
      </p:sp>
      <p:sp>
        <p:nvSpPr>
          <p:cNvPr id="7" name="Text 5"/>
          <p:cNvSpPr/>
          <p:nvPr/>
        </p:nvSpPr>
        <p:spPr>
          <a:xfrm>
            <a:off x="457200" y="1783080"/>
            <a:ext cx="2651760" cy="548640"/>
          </a:xfrm>
          <a:prstGeom prst="rect">
            <a:avLst/>
          </a:prstGeom>
          <a:noFill/>
          <a:ln/>
        </p:spPr>
        <p:txBody>
          <a:bodyPr wrap="square" lIns="0" tIns="0" rIns="0" bIns="0" rtlCol="0" anchor="ctr"/>
          <a:lstStyle/>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of travelers now use AI</a:t>
            </a:r>
            <a:endParaRPr lang="en-US" sz="1100" dirty="0"/>
          </a:p>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to plan trips</a:t>
            </a:r>
            <a:endParaRPr lang="en-US" sz="1100" dirty="0"/>
          </a:p>
        </p:txBody>
      </p:sp>
      <p:sp>
        <p:nvSpPr>
          <p:cNvPr id="8" name="Shape 6"/>
          <p:cNvSpPr/>
          <p:nvPr/>
        </p:nvSpPr>
        <p:spPr>
          <a:xfrm>
            <a:off x="3337560" y="1005840"/>
            <a:ext cx="2651760" cy="1463040"/>
          </a:xfrm>
          <a:prstGeom prst="roundRect">
            <a:avLst>
              <a:gd name="adj" fmla="val 7500"/>
            </a:avLst>
          </a:prstGeom>
          <a:solidFill>
            <a:srgbClr val="FFFFFF"/>
          </a:solidFill>
          <a:ln/>
          <a:effectLst>
            <a:outerShdw sx="100000" sy="100000" kx="0" ky="0" algn="bl" rotWithShape="0" blurRad="76200" dist="25400" dir="8100000">
              <a:srgbClr val="000000">
                <a:alpha val="6000"/>
              </a:srgbClr>
            </a:outerShdw>
          </a:effectLst>
        </p:spPr>
      </p:sp>
      <p:sp>
        <p:nvSpPr>
          <p:cNvPr id="9" name="Text 7"/>
          <p:cNvSpPr/>
          <p:nvPr/>
        </p:nvSpPr>
        <p:spPr>
          <a:xfrm>
            <a:off x="3337560" y="1143000"/>
            <a:ext cx="2651760" cy="640080"/>
          </a:xfrm>
          <a:prstGeom prst="rect">
            <a:avLst/>
          </a:prstGeom>
          <a:noFill/>
          <a:ln/>
        </p:spPr>
        <p:txBody>
          <a:bodyPr wrap="square" lIns="0" tIns="0" rIns="0" bIns="0" rtlCol="0" anchor="ctr"/>
          <a:lstStyle/>
          <a:p>
            <a:pPr algn="ctr" indent="0" marL="0">
              <a:buNone/>
            </a:pPr>
            <a:r>
              <a:rPr lang="en-US" sz="3200" b="1" dirty="0">
                <a:solidFill>
                  <a:srgbClr val="B5392A"/>
                </a:solidFill>
                <a:latin typeface="Georgia" pitchFamily="34" charset="0"/>
                <a:ea typeface="Georgia" pitchFamily="34" charset="-122"/>
                <a:cs typeface="Georgia" pitchFamily="34" charset="-120"/>
              </a:rPr>
              <a:t>84%</a:t>
            </a:r>
            <a:endParaRPr lang="en-US" sz="3200" dirty="0"/>
          </a:p>
        </p:txBody>
      </p:sp>
      <p:sp>
        <p:nvSpPr>
          <p:cNvPr id="10" name="Text 8"/>
          <p:cNvSpPr/>
          <p:nvPr/>
        </p:nvSpPr>
        <p:spPr>
          <a:xfrm>
            <a:off x="3337560" y="1783080"/>
            <a:ext cx="2651760" cy="548640"/>
          </a:xfrm>
          <a:prstGeom prst="rect">
            <a:avLst/>
          </a:prstGeom>
          <a:noFill/>
          <a:ln/>
        </p:spPr>
        <p:txBody>
          <a:bodyPr wrap="square" lIns="0" tIns="0" rIns="0" bIns="0" rtlCol="0" anchor="ctr"/>
          <a:lstStyle/>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of hotels are invisible</a:t>
            </a:r>
            <a:endParaRPr lang="en-US" sz="1100" dirty="0"/>
          </a:p>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to AI search</a:t>
            </a:r>
            <a:endParaRPr lang="en-US" sz="1100" dirty="0"/>
          </a:p>
        </p:txBody>
      </p:sp>
      <p:sp>
        <p:nvSpPr>
          <p:cNvPr id="11" name="Shape 9"/>
          <p:cNvSpPr/>
          <p:nvPr/>
        </p:nvSpPr>
        <p:spPr>
          <a:xfrm>
            <a:off x="6217920" y="1005840"/>
            <a:ext cx="2651760" cy="1463040"/>
          </a:xfrm>
          <a:prstGeom prst="roundRect">
            <a:avLst>
              <a:gd name="adj" fmla="val 7500"/>
            </a:avLst>
          </a:prstGeom>
          <a:solidFill>
            <a:srgbClr val="FFFFFF"/>
          </a:solidFill>
          <a:ln/>
          <a:effectLst>
            <a:outerShdw sx="100000" sy="100000" kx="0" ky="0" algn="bl" rotWithShape="0" blurRad="76200" dist="25400" dir="8100000">
              <a:srgbClr val="000000">
                <a:alpha val="6000"/>
              </a:srgbClr>
            </a:outerShdw>
          </a:effectLst>
        </p:spPr>
      </p:sp>
      <p:sp>
        <p:nvSpPr>
          <p:cNvPr id="12" name="Text 10"/>
          <p:cNvSpPr/>
          <p:nvPr/>
        </p:nvSpPr>
        <p:spPr>
          <a:xfrm>
            <a:off x="6217920" y="1143000"/>
            <a:ext cx="2651760" cy="640080"/>
          </a:xfrm>
          <a:prstGeom prst="rect">
            <a:avLst/>
          </a:prstGeom>
          <a:noFill/>
          <a:ln/>
        </p:spPr>
        <p:txBody>
          <a:bodyPr wrap="square" lIns="0" tIns="0" rIns="0" bIns="0" rtlCol="0" anchor="ctr"/>
          <a:lstStyle/>
          <a:p>
            <a:pPr algn="ctr" indent="0" marL="0">
              <a:buNone/>
            </a:pPr>
            <a:r>
              <a:rPr lang="en-US" sz="3200" b="1" dirty="0">
                <a:solidFill>
                  <a:srgbClr val="3D7A4A"/>
                </a:solidFill>
                <a:latin typeface="Georgia" pitchFamily="34" charset="0"/>
                <a:ea typeface="Georgia" pitchFamily="34" charset="-122"/>
                <a:cs typeface="Georgia" pitchFamily="34" charset="-120"/>
              </a:rPr>
              <a:t>EUR 3-7B</a:t>
            </a:r>
            <a:endParaRPr lang="en-US" sz="3200" dirty="0"/>
          </a:p>
        </p:txBody>
      </p:sp>
      <p:sp>
        <p:nvSpPr>
          <p:cNvPr id="13" name="Text 11"/>
          <p:cNvSpPr/>
          <p:nvPr/>
        </p:nvSpPr>
        <p:spPr>
          <a:xfrm>
            <a:off x="6217920" y="1783080"/>
            <a:ext cx="2651760" cy="548640"/>
          </a:xfrm>
          <a:prstGeom prst="rect">
            <a:avLst/>
          </a:prstGeom>
          <a:noFill/>
          <a:ln/>
        </p:spPr>
        <p:txBody>
          <a:bodyPr wrap="square" lIns="0" tIns="0" rIns="0" bIns="0" rtlCol="0" anchor="ctr"/>
          <a:lstStyle/>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total addressable</a:t>
            </a:r>
            <a:endParaRPr lang="en-US" sz="1100" dirty="0"/>
          </a:p>
          <a:p>
            <a:pPr algn="ctr" indent="0" marL="0">
              <a:lnSpc>
                <a:spcPct val="130000"/>
              </a:lnSpc>
              <a:buNone/>
            </a:pPr>
            <a:r>
              <a:rPr lang="en-US" sz="1100" dirty="0">
                <a:solidFill>
                  <a:srgbClr val="6B5D4F"/>
                </a:solidFill>
                <a:latin typeface="Arial" pitchFamily="34" charset="0"/>
                <a:ea typeface="Arial" pitchFamily="34" charset="-122"/>
                <a:cs typeface="Arial" pitchFamily="34" charset="-120"/>
              </a:rPr>
              <a:t>market</a:t>
            </a:r>
            <a:endParaRPr lang="en-US" sz="1100" dirty="0"/>
          </a:p>
        </p:txBody>
      </p:sp>
      <p:sp>
        <p:nvSpPr>
          <p:cNvPr id="14" name="Shape 12"/>
          <p:cNvSpPr/>
          <p:nvPr/>
        </p:nvSpPr>
        <p:spPr>
          <a:xfrm>
            <a:off x="457200" y="2697480"/>
            <a:ext cx="8229600" cy="1097280"/>
          </a:xfrm>
          <a:prstGeom prst="roundRect">
            <a:avLst>
              <a:gd name="adj" fmla="val 10000"/>
            </a:avLst>
          </a:prstGeom>
          <a:solidFill>
            <a:srgbClr val="FDF5E8"/>
          </a:solidFill>
          <a:ln/>
        </p:spPr>
      </p:sp>
      <p:pic>
        <p:nvPicPr>
          <p:cNvPr id="15" name="Image 0" descr="preencoded.png">    </p:cNvPr>
          <p:cNvPicPr>
            <a:picLocks noChangeAspect="1"/>
          </p:cNvPicPr>
          <p:nvPr/>
        </p:nvPicPr>
        <p:blipFill>
          <a:blip r:embed="rId1"/>
          <a:stretch>
            <a:fillRect/>
          </a:stretch>
        </p:blipFill>
        <p:spPr>
          <a:xfrm>
            <a:off x="731520" y="2880360"/>
            <a:ext cx="274320" cy="274320"/>
          </a:xfrm>
          <a:prstGeom prst="rect">
            <a:avLst/>
          </a:prstGeom>
        </p:spPr>
      </p:pic>
      <p:sp>
        <p:nvSpPr>
          <p:cNvPr id="16" name="Text 13"/>
          <p:cNvSpPr/>
          <p:nvPr/>
        </p:nvSpPr>
        <p:spPr>
          <a:xfrm>
            <a:off x="1097280" y="2834640"/>
            <a:ext cx="3657600" cy="320040"/>
          </a:xfrm>
          <a:prstGeom prst="rect">
            <a:avLst/>
          </a:prstGeom>
          <a:noFill/>
          <a:ln/>
        </p:spPr>
        <p:txBody>
          <a:bodyPr wrap="square" lIns="0" tIns="0" rIns="0" bIns="0" rtlCol="0" anchor="ctr"/>
          <a:lstStyle/>
          <a:p>
            <a:pPr indent="0" marL="0">
              <a:buNone/>
            </a:pPr>
            <a:r>
              <a:rPr lang="en-US" sz="1200" b="1" dirty="0">
                <a:solidFill>
                  <a:srgbClr val="A07020"/>
                </a:solidFill>
                <a:latin typeface="Arial" pitchFamily="34" charset="0"/>
                <a:ea typeface="Arial" pitchFamily="34" charset="-122"/>
                <a:cs typeface="Arial" pitchFamily="34" charset="-120"/>
              </a:rPr>
              <a:t>The key insight:</a:t>
            </a:r>
            <a:endParaRPr lang="en-US" sz="1200" dirty="0"/>
          </a:p>
        </p:txBody>
      </p:sp>
      <p:sp>
        <p:nvSpPr>
          <p:cNvPr id="17" name="Text 14"/>
          <p:cNvSpPr/>
          <p:nvPr/>
        </p:nvSpPr>
        <p:spPr>
          <a:xfrm>
            <a:off x="731520" y="3200400"/>
            <a:ext cx="7680960" cy="502920"/>
          </a:xfrm>
          <a:prstGeom prst="rect">
            <a:avLst/>
          </a:prstGeom>
          <a:noFill/>
          <a:ln/>
        </p:spPr>
        <p:txBody>
          <a:bodyPr wrap="square" lIns="0" tIns="0" rIns="0" bIns="0" rtlCol="0" anchor="ctr"/>
          <a:lstStyle/>
          <a:p>
            <a:pPr indent="0" marL="0">
              <a:lnSpc>
                <a:spcPct val="130000"/>
              </a:lnSpc>
              <a:buNone/>
            </a:pPr>
            <a:r>
              <a:rPr lang="en-US" sz="1150" dirty="0">
                <a:solidFill>
                  <a:srgbClr val="2C2418"/>
                </a:solidFill>
                <a:latin typeface="Arial" pitchFamily="34" charset="0"/>
                <a:ea typeface="Arial" pitchFamily="34" charset="-122"/>
                <a:cs typeface="Arial" pitchFamily="34" charset="-120"/>
              </a:rPr>
              <a:t>When someone asks ChatGPT "best hotel in Zurich," the answer is built from OTA summaries and outdated content. Hotels that control their own story in AI search will capture the bookings. Hotels that don't will become invisible. There's a 12-18 month window to act.</a:t>
            </a:r>
            <a:endParaRPr lang="en-US" sz="1150" dirty="0"/>
          </a:p>
        </p:txBody>
      </p:sp>
      <p:sp>
        <p:nvSpPr>
          <p:cNvPr id="18" name="Text 15"/>
          <p:cNvSpPr/>
          <p:nvPr/>
        </p:nvSpPr>
        <p:spPr>
          <a:xfrm>
            <a:off x="548640" y="3977640"/>
            <a:ext cx="7315200" cy="32004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Why nobody else does this:</a:t>
            </a:r>
            <a:endParaRPr lang="en-US" sz="1400" dirty="0"/>
          </a:p>
        </p:txBody>
      </p:sp>
      <p:sp>
        <p:nvSpPr>
          <p:cNvPr id="19" name="Text 16"/>
          <p:cNvSpPr/>
          <p:nvPr/>
        </p:nvSpPr>
        <p:spPr>
          <a:xfrm>
            <a:off x="548640" y="4297680"/>
            <a:ext cx="7772400" cy="640080"/>
          </a:xfrm>
          <a:prstGeom prst="rect">
            <a:avLst/>
          </a:prstGeom>
          <a:noFill/>
          <a:ln/>
        </p:spPr>
        <p:txBody>
          <a:bodyPr wrap="square" lIns="0" tIns="0" rIns="0" bIns="0" rtlCol="0" anchor="ctr"/>
          <a:lstStyle/>
          <a:p>
            <a:pPr indent="0" marL="0">
              <a:lnSpc>
                <a:spcPct val="130000"/>
              </a:lnSpc>
              <a:buNone/>
            </a:pPr>
            <a:r>
              <a:rPr lang="en-US" sz="1150" dirty="0">
                <a:solidFill>
                  <a:srgbClr val="6B5D4F"/>
                </a:solidFill>
                <a:latin typeface="Arial" pitchFamily="34" charset="0"/>
                <a:ea typeface="Arial" pitchFamily="34" charset="-122"/>
                <a:cs typeface="Arial" pitchFamily="34" charset="-120"/>
              </a:rPr>
              <a:t>Competitors do pieces — one does rate monitoring, another does review dashboards, another does CRM. Nobody combines understanding the market + deciding what matters + actually producing the content. That's the gap.</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8/10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The Business Model</a:t>
            </a:r>
            <a:endParaRPr lang="en-US" sz="2800" dirty="0"/>
          </a:p>
        </p:txBody>
      </p:sp>
      <p:sp>
        <p:nvSpPr>
          <p:cNvPr id="5" name="Text 3"/>
          <p:cNvSpPr/>
          <p:nvPr/>
        </p:nvSpPr>
        <p:spPr>
          <a:xfrm>
            <a:off x="548640" y="777240"/>
            <a:ext cx="8229600" cy="320040"/>
          </a:xfrm>
          <a:prstGeom prst="rect">
            <a:avLst/>
          </a:prstGeom>
          <a:noFill/>
          <a:ln/>
        </p:spPr>
        <p:txBody>
          <a:bodyPr wrap="square" lIns="0" tIns="0" rIns="0" bIns="0" rtlCol="0" anchor="ctr"/>
          <a:lstStyle/>
          <a:p>
            <a:pPr indent="0" marL="0">
              <a:buNone/>
            </a:pPr>
            <a:r>
              <a:rPr lang="en-US" sz="1300" i="1" dirty="0">
                <a:solidFill>
                  <a:srgbClr val="C45A3C"/>
                </a:solidFill>
                <a:latin typeface="Arial" pitchFamily="34" charset="0"/>
                <a:ea typeface="Arial" pitchFamily="34" charset="-122"/>
                <a:cs typeface="Arial" pitchFamily="34" charset="-120"/>
              </a:rPr>
              <a:t>Hotels already spend this money — we're replacing the spend, not creating it</a:t>
            </a:r>
            <a:endParaRPr lang="en-US" sz="1300" dirty="0"/>
          </a:p>
        </p:txBody>
      </p:sp>
      <p:sp>
        <p:nvSpPr>
          <p:cNvPr id="6" name="Shape 4"/>
          <p:cNvSpPr/>
          <p:nvPr/>
        </p:nvSpPr>
        <p:spPr>
          <a:xfrm>
            <a:off x="457200" y="1280160"/>
            <a:ext cx="3931920" cy="2011680"/>
          </a:xfrm>
          <a:prstGeom prst="roundRect">
            <a:avLst>
              <a:gd name="adj" fmla="val 5455"/>
            </a:avLst>
          </a:prstGeom>
          <a:solidFill>
            <a:srgbClr val="FDF0ED"/>
          </a:solidFill>
          <a:ln/>
        </p:spPr>
      </p:sp>
      <p:sp>
        <p:nvSpPr>
          <p:cNvPr id="7" name="Text 5"/>
          <p:cNvSpPr/>
          <p:nvPr/>
        </p:nvSpPr>
        <p:spPr>
          <a:xfrm>
            <a:off x="731520" y="1417320"/>
            <a:ext cx="3474720" cy="274320"/>
          </a:xfrm>
          <a:prstGeom prst="rect">
            <a:avLst/>
          </a:prstGeom>
          <a:noFill/>
          <a:ln/>
        </p:spPr>
        <p:txBody>
          <a:bodyPr wrap="square" lIns="0" tIns="0" rIns="0" bIns="0" rtlCol="0" anchor="ctr"/>
          <a:lstStyle/>
          <a:p>
            <a:pPr indent="0" marL="0">
              <a:buNone/>
            </a:pPr>
            <a:r>
              <a:rPr lang="en-US" sz="1300" b="1" dirty="0">
                <a:solidFill>
                  <a:srgbClr val="B5392A"/>
                </a:solidFill>
                <a:latin typeface="Arial" pitchFamily="34" charset="0"/>
                <a:ea typeface="Arial" pitchFamily="34" charset="-122"/>
                <a:cs typeface="Arial" pitchFamily="34" charset="-120"/>
              </a:rPr>
              <a:t>What hotels pay today</a:t>
            </a:r>
            <a:endParaRPr lang="en-US" sz="1300" dirty="0"/>
          </a:p>
        </p:txBody>
      </p:sp>
      <p:sp>
        <p:nvSpPr>
          <p:cNvPr id="8" name="Text 6"/>
          <p:cNvSpPr/>
          <p:nvPr/>
        </p:nvSpPr>
        <p:spPr>
          <a:xfrm>
            <a:off x="731520" y="1783080"/>
            <a:ext cx="2286000" cy="228600"/>
          </a:xfrm>
          <a:prstGeom prst="rect">
            <a:avLst/>
          </a:prstGeom>
          <a:noFill/>
          <a:ln/>
        </p:spPr>
        <p:txBody>
          <a:bodyPr wrap="square" lIns="0" tIns="0" rIns="0" bIns="0" rtlCol="0" anchor="ctr"/>
          <a:lstStyle/>
          <a:p>
            <a:pPr indent="0" marL="0">
              <a:buNone/>
            </a:pPr>
            <a:r>
              <a:rPr lang="en-US" sz="1100" dirty="0">
                <a:solidFill>
                  <a:srgbClr val="2C2418"/>
                </a:solidFill>
                <a:latin typeface="Arial" pitchFamily="34" charset="0"/>
                <a:ea typeface="Arial" pitchFamily="34" charset="-122"/>
                <a:cs typeface="Arial" pitchFamily="34" charset="-120"/>
              </a:rPr>
              <a:t>Agency retainer</a:t>
            </a:r>
            <a:endParaRPr lang="en-US" sz="1100" dirty="0"/>
          </a:p>
        </p:txBody>
      </p:sp>
      <p:sp>
        <p:nvSpPr>
          <p:cNvPr id="9" name="Text 7"/>
          <p:cNvSpPr/>
          <p:nvPr/>
        </p:nvSpPr>
        <p:spPr>
          <a:xfrm>
            <a:off x="2926080" y="1783080"/>
            <a:ext cx="1188720" cy="228600"/>
          </a:xfrm>
          <a:prstGeom prst="rect">
            <a:avLst/>
          </a:prstGeom>
          <a:noFill/>
          <a:ln/>
        </p:spPr>
        <p:txBody>
          <a:bodyPr wrap="square" lIns="0" tIns="0" rIns="0" bIns="0" rtlCol="0" anchor="ctr"/>
          <a:lstStyle/>
          <a:p>
            <a:pPr algn="r" indent="0" marL="0">
              <a:buNone/>
            </a:pPr>
            <a:r>
              <a:rPr lang="en-US" sz="1100" dirty="0">
                <a:solidFill>
                  <a:srgbClr val="B5392A"/>
                </a:solidFill>
                <a:latin typeface="Arial" pitchFamily="34" charset="0"/>
                <a:ea typeface="Arial" pitchFamily="34" charset="-122"/>
                <a:cs typeface="Arial" pitchFamily="34" charset="-120"/>
              </a:rPr>
              <a:t>EUR 3-8K/mo</a:t>
            </a:r>
            <a:endParaRPr lang="en-US" sz="1100" dirty="0"/>
          </a:p>
        </p:txBody>
      </p:sp>
      <p:sp>
        <p:nvSpPr>
          <p:cNvPr id="10" name="Text 8"/>
          <p:cNvSpPr/>
          <p:nvPr/>
        </p:nvSpPr>
        <p:spPr>
          <a:xfrm>
            <a:off x="731520" y="2075688"/>
            <a:ext cx="2286000" cy="228600"/>
          </a:xfrm>
          <a:prstGeom prst="rect">
            <a:avLst/>
          </a:prstGeom>
          <a:noFill/>
          <a:ln/>
        </p:spPr>
        <p:txBody>
          <a:bodyPr wrap="square" lIns="0" tIns="0" rIns="0" bIns="0" rtlCol="0" anchor="ctr"/>
          <a:lstStyle/>
          <a:p>
            <a:pPr indent="0" marL="0">
              <a:buNone/>
            </a:pPr>
            <a:r>
              <a:rPr lang="en-US" sz="1100" dirty="0">
                <a:solidFill>
                  <a:srgbClr val="2C2418"/>
                </a:solidFill>
                <a:latin typeface="Arial" pitchFamily="34" charset="0"/>
                <a:ea typeface="Arial" pitchFamily="34" charset="-122"/>
                <a:cs typeface="Arial" pitchFamily="34" charset="-120"/>
              </a:rPr>
              <a:t>Junior marketing hire</a:t>
            </a:r>
            <a:endParaRPr lang="en-US" sz="1100" dirty="0"/>
          </a:p>
        </p:txBody>
      </p:sp>
      <p:sp>
        <p:nvSpPr>
          <p:cNvPr id="11" name="Text 9"/>
          <p:cNvSpPr/>
          <p:nvPr/>
        </p:nvSpPr>
        <p:spPr>
          <a:xfrm>
            <a:off x="2926080" y="2075688"/>
            <a:ext cx="1188720" cy="228600"/>
          </a:xfrm>
          <a:prstGeom prst="rect">
            <a:avLst/>
          </a:prstGeom>
          <a:noFill/>
          <a:ln/>
        </p:spPr>
        <p:txBody>
          <a:bodyPr wrap="square" lIns="0" tIns="0" rIns="0" bIns="0" rtlCol="0" anchor="ctr"/>
          <a:lstStyle/>
          <a:p>
            <a:pPr algn="r" indent="0" marL="0">
              <a:buNone/>
            </a:pPr>
            <a:r>
              <a:rPr lang="en-US" sz="1100" dirty="0">
                <a:solidFill>
                  <a:srgbClr val="B5392A"/>
                </a:solidFill>
                <a:latin typeface="Arial" pitchFamily="34" charset="0"/>
                <a:ea typeface="Arial" pitchFamily="34" charset="-122"/>
                <a:cs typeface="Arial" pitchFamily="34" charset="-120"/>
              </a:rPr>
              <a:t>EUR 180-300K/yr</a:t>
            </a:r>
            <a:endParaRPr lang="en-US" sz="1100" dirty="0"/>
          </a:p>
        </p:txBody>
      </p:sp>
      <p:sp>
        <p:nvSpPr>
          <p:cNvPr id="12" name="Text 10"/>
          <p:cNvSpPr/>
          <p:nvPr/>
        </p:nvSpPr>
        <p:spPr>
          <a:xfrm>
            <a:off x="731520" y="2368296"/>
            <a:ext cx="2286000" cy="228600"/>
          </a:xfrm>
          <a:prstGeom prst="rect">
            <a:avLst/>
          </a:prstGeom>
          <a:noFill/>
          <a:ln/>
        </p:spPr>
        <p:txBody>
          <a:bodyPr wrap="square" lIns="0" tIns="0" rIns="0" bIns="0" rtlCol="0" anchor="ctr"/>
          <a:lstStyle/>
          <a:p>
            <a:pPr indent="0" marL="0">
              <a:buNone/>
            </a:pPr>
            <a:r>
              <a:rPr lang="en-US" sz="1100" dirty="0">
                <a:solidFill>
                  <a:srgbClr val="2C2418"/>
                </a:solidFill>
                <a:latin typeface="Arial" pitchFamily="34" charset="0"/>
                <a:ea typeface="Arial" pitchFamily="34" charset="-122"/>
                <a:cs typeface="Arial" pitchFamily="34" charset="-120"/>
              </a:rPr>
              <a:t>Review/reputation tool</a:t>
            </a:r>
            <a:endParaRPr lang="en-US" sz="1100" dirty="0"/>
          </a:p>
        </p:txBody>
      </p:sp>
      <p:sp>
        <p:nvSpPr>
          <p:cNvPr id="13" name="Text 11"/>
          <p:cNvSpPr/>
          <p:nvPr/>
        </p:nvSpPr>
        <p:spPr>
          <a:xfrm>
            <a:off x="2926080" y="2368296"/>
            <a:ext cx="1188720" cy="228600"/>
          </a:xfrm>
          <a:prstGeom prst="rect">
            <a:avLst/>
          </a:prstGeom>
          <a:noFill/>
          <a:ln/>
        </p:spPr>
        <p:txBody>
          <a:bodyPr wrap="square" lIns="0" tIns="0" rIns="0" bIns="0" rtlCol="0" anchor="ctr"/>
          <a:lstStyle/>
          <a:p>
            <a:pPr algn="r" indent="0" marL="0">
              <a:buNone/>
            </a:pPr>
            <a:r>
              <a:rPr lang="en-US" sz="1100" dirty="0">
                <a:solidFill>
                  <a:srgbClr val="B5392A"/>
                </a:solidFill>
                <a:latin typeface="Arial" pitchFamily="34" charset="0"/>
                <a:ea typeface="Arial" pitchFamily="34" charset="-122"/>
                <a:cs typeface="Arial" pitchFamily="34" charset="-120"/>
              </a:rPr>
              <a:t>EUR 115-350/mo</a:t>
            </a:r>
            <a:endParaRPr lang="en-US" sz="1100" dirty="0"/>
          </a:p>
        </p:txBody>
      </p:sp>
      <p:sp>
        <p:nvSpPr>
          <p:cNvPr id="14" name="Text 12"/>
          <p:cNvSpPr/>
          <p:nvPr/>
        </p:nvSpPr>
        <p:spPr>
          <a:xfrm>
            <a:off x="731520" y="2660904"/>
            <a:ext cx="2286000" cy="228600"/>
          </a:xfrm>
          <a:prstGeom prst="rect">
            <a:avLst/>
          </a:prstGeom>
          <a:noFill/>
          <a:ln/>
        </p:spPr>
        <p:txBody>
          <a:bodyPr wrap="square" lIns="0" tIns="0" rIns="0" bIns="0" rtlCol="0" anchor="ctr"/>
          <a:lstStyle/>
          <a:p>
            <a:pPr indent="0" marL="0">
              <a:buNone/>
            </a:pPr>
            <a:r>
              <a:rPr lang="en-US" sz="1100" dirty="0">
                <a:solidFill>
                  <a:srgbClr val="2C2418"/>
                </a:solidFill>
                <a:latin typeface="Arial" pitchFamily="34" charset="0"/>
                <a:ea typeface="Arial" pitchFamily="34" charset="-122"/>
                <a:cs typeface="Arial" pitchFamily="34" charset="-120"/>
              </a:rPr>
              <a:t>Comp-set tool</a:t>
            </a:r>
            <a:endParaRPr lang="en-US" sz="1100" dirty="0"/>
          </a:p>
        </p:txBody>
      </p:sp>
      <p:sp>
        <p:nvSpPr>
          <p:cNvPr id="15" name="Text 13"/>
          <p:cNvSpPr/>
          <p:nvPr/>
        </p:nvSpPr>
        <p:spPr>
          <a:xfrm>
            <a:off x="2926080" y="2660904"/>
            <a:ext cx="1188720" cy="228600"/>
          </a:xfrm>
          <a:prstGeom prst="rect">
            <a:avLst/>
          </a:prstGeom>
          <a:noFill/>
          <a:ln/>
        </p:spPr>
        <p:txBody>
          <a:bodyPr wrap="square" lIns="0" tIns="0" rIns="0" bIns="0" rtlCol="0" anchor="ctr"/>
          <a:lstStyle/>
          <a:p>
            <a:pPr algn="r" indent="0" marL="0">
              <a:buNone/>
            </a:pPr>
            <a:r>
              <a:rPr lang="en-US" sz="1100" dirty="0">
                <a:solidFill>
                  <a:srgbClr val="B5392A"/>
                </a:solidFill>
                <a:latin typeface="Arial" pitchFamily="34" charset="0"/>
                <a:ea typeface="Arial" pitchFamily="34" charset="-122"/>
                <a:cs typeface="Arial" pitchFamily="34" charset="-120"/>
              </a:rPr>
              <a:t>EUR 200-500/mo</a:t>
            </a:r>
            <a:endParaRPr lang="en-US" sz="1100" dirty="0"/>
          </a:p>
        </p:txBody>
      </p:sp>
      <p:sp>
        <p:nvSpPr>
          <p:cNvPr id="16" name="Text 14"/>
          <p:cNvSpPr/>
          <p:nvPr/>
        </p:nvSpPr>
        <p:spPr>
          <a:xfrm>
            <a:off x="731520" y="2953512"/>
            <a:ext cx="2286000" cy="22860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TOTAL</a:t>
            </a:r>
            <a:endParaRPr lang="en-US" sz="1200" dirty="0"/>
          </a:p>
        </p:txBody>
      </p:sp>
      <p:sp>
        <p:nvSpPr>
          <p:cNvPr id="17" name="Text 15"/>
          <p:cNvSpPr/>
          <p:nvPr/>
        </p:nvSpPr>
        <p:spPr>
          <a:xfrm>
            <a:off x="2926080" y="2953512"/>
            <a:ext cx="1188720" cy="228600"/>
          </a:xfrm>
          <a:prstGeom prst="rect">
            <a:avLst/>
          </a:prstGeom>
          <a:noFill/>
          <a:ln/>
        </p:spPr>
        <p:txBody>
          <a:bodyPr wrap="square" lIns="0" tIns="0" rIns="0" bIns="0" rtlCol="0" anchor="ctr"/>
          <a:lstStyle/>
          <a:p>
            <a:pPr algn="r" indent="0" marL="0">
              <a:buNone/>
            </a:pPr>
            <a:r>
              <a:rPr lang="en-US" sz="1200" b="1" dirty="0">
                <a:solidFill>
                  <a:srgbClr val="B5392A"/>
                </a:solidFill>
                <a:latin typeface="Arial" pitchFamily="34" charset="0"/>
                <a:ea typeface="Arial" pitchFamily="34" charset="-122"/>
                <a:cs typeface="Arial" pitchFamily="34" charset="-120"/>
              </a:rPr>
              <a:t>EUR 6-12K/month</a:t>
            </a:r>
            <a:endParaRPr lang="en-US" sz="1200" dirty="0"/>
          </a:p>
        </p:txBody>
      </p:sp>
      <p:sp>
        <p:nvSpPr>
          <p:cNvPr id="18" name="Shape 16"/>
          <p:cNvSpPr/>
          <p:nvPr/>
        </p:nvSpPr>
        <p:spPr>
          <a:xfrm>
            <a:off x="731520" y="2926080"/>
            <a:ext cx="3383280" cy="0"/>
          </a:xfrm>
          <a:prstGeom prst="line">
            <a:avLst/>
          </a:prstGeom>
          <a:noFill/>
          <a:ln w="6350">
            <a:solidFill>
              <a:srgbClr val="B5392A"/>
            </a:solidFill>
            <a:prstDash val="solid"/>
          </a:ln>
        </p:spPr>
      </p:sp>
      <p:pic>
        <p:nvPicPr>
          <p:cNvPr id="19" name="Image 0" descr="preencoded.png">    </p:cNvPr>
          <p:cNvPicPr>
            <a:picLocks noChangeAspect="1"/>
          </p:cNvPicPr>
          <p:nvPr/>
        </p:nvPicPr>
        <p:blipFill>
          <a:blip r:embed="rId1"/>
          <a:stretch>
            <a:fillRect/>
          </a:stretch>
        </p:blipFill>
        <p:spPr>
          <a:xfrm>
            <a:off x="4160520" y="2011680"/>
            <a:ext cx="365760" cy="365760"/>
          </a:xfrm>
          <a:prstGeom prst="rect">
            <a:avLst/>
          </a:prstGeom>
        </p:spPr>
      </p:pic>
      <p:sp>
        <p:nvSpPr>
          <p:cNvPr id="20" name="Shape 17"/>
          <p:cNvSpPr/>
          <p:nvPr/>
        </p:nvSpPr>
        <p:spPr>
          <a:xfrm>
            <a:off x="4754880" y="1280160"/>
            <a:ext cx="3931920" cy="2011680"/>
          </a:xfrm>
          <a:prstGeom prst="roundRect">
            <a:avLst>
              <a:gd name="adj" fmla="val 5455"/>
            </a:avLst>
          </a:prstGeom>
          <a:solidFill>
            <a:srgbClr val="EDF5EF"/>
          </a:solidFill>
          <a:ln/>
        </p:spPr>
      </p:sp>
      <p:sp>
        <p:nvSpPr>
          <p:cNvPr id="21" name="Text 18"/>
          <p:cNvSpPr/>
          <p:nvPr/>
        </p:nvSpPr>
        <p:spPr>
          <a:xfrm>
            <a:off x="5029200" y="1417320"/>
            <a:ext cx="3474720" cy="274320"/>
          </a:xfrm>
          <a:prstGeom prst="rect">
            <a:avLst/>
          </a:prstGeom>
          <a:noFill/>
          <a:ln/>
        </p:spPr>
        <p:txBody>
          <a:bodyPr wrap="square" lIns="0" tIns="0" rIns="0" bIns="0" rtlCol="0" anchor="ctr"/>
          <a:lstStyle/>
          <a:p>
            <a:pPr indent="0" marL="0">
              <a:buNone/>
            </a:pPr>
            <a:r>
              <a:rPr lang="en-US" sz="1300" b="1" dirty="0">
                <a:solidFill>
                  <a:srgbClr val="3D7A4A"/>
                </a:solidFill>
                <a:latin typeface="Arial" pitchFamily="34" charset="0"/>
                <a:ea typeface="Arial" pitchFamily="34" charset="-122"/>
                <a:cs typeface="Arial" pitchFamily="34" charset="-120"/>
              </a:rPr>
              <a:t>Tercier replaces all of it</a:t>
            </a:r>
            <a:endParaRPr lang="en-US" sz="1300" dirty="0"/>
          </a:p>
        </p:txBody>
      </p:sp>
      <p:sp>
        <p:nvSpPr>
          <p:cNvPr id="22" name="Text 19"/>
          <p:cNvSpPr/>
          <p:nvPr/>
        </p:nvSpPr>
        <p:spPr>
          <a:xfrm>
            <a:off x="5029200" y="1828800"/>
            <a:ext cx="3474720" cy="365760"/>
          </a:xfrm>
          <a:prstGeom prst="rect">
            <a:avLst/>
          </a:prstGeom>
          <a:noFill/>
          <a:ln/>
        </p:spPr>
        <p:txBody>
          <a:bodyPr wrap="square" lIns="0" tIns="0" rIns="0" bIns="0" rtlCol="0" anchor="ctr"/>
          <a:lstStyle/>
          <a:p>
            <a:pPr indent="0" marL="0">
              <a:buNone/>
            </a:pPr>
            <a:r>
              <a:rPr lang="en-US" sz="2000" b="1" dirty="0">
                <a:solidFill>
                  <a:srgbClr val="3D7A4A"/>
                </a:solidFill>
                <a:latin typeface="Georgia" pitchFamily="34" charset="0"/>
                <a:ea typeface="Georgia" pitchFamily="34" charset="-122"/>
                <a:cs typeface="Georgia" pitchFamily="34" charset="-120"/>
              </a:rPr>
              <a:t>EUR 1,500-5,000/month</a:t>
            </a:r>
            <a:endParaRPr lang="en-US" sz="2000" dirty="0"/>
          </a:p>
        </p:txBody>
      </p:sp>
      <p:sp>
        <p:nvSpPr>
          <p:cNvPr id="23" name="Text 20"/>
          <p:cNvSpPr/>
          <p:nvPr/>
        </p:nvSpPr>
        <p:spPr>
          <a:xfrm>
            <a:off x="5029200" y="2286000"/>
            <a:ext cx="3474720" cy="914400"/>
          </a:xfrm>
          <a:prstGeom prst="rect">
            <a:avLst/>
          </a:prstGeom>
          <a:noFill/>
          <a:ln/>
        </p:spPr>
        <p:txBody>
          <a:bodyPr wrap="square" lIns="0" tIns="0" rIns="0" bIns="0" rtlCol="0" anchor="ctr"/>
          <a:lstStyle/>
          <a:p>
            <a:pPr indent="0" marL="0">
              <a:lnSpc>
                <a:spcPct val="130000"/>
              </a:lnSpc>
              <a:buNone/>
            </a:pPr>
            <a:r>
              <a:rPr lang="en-US" sz="1050" dirty="0">
                <a:solidFill>
                  <a:srgbClr val="6B5D4F"/>
                </a:solidFill>
                <a:latin typeface="Arial" pitchFamily="34" charset="0"/>
                <a:ea typeface="Arial" pitchFamily="34" charset="-122"/>
                <a:cs typeface="Arial" pitchFamily="34" charset="-120"/>
              </a:rPr>
              <a:t>Includes everything:</a:t>
            </a:r>
            <a:endParaRPr lang="en-US" sz="1050" dirty="0"/>
          </a:p>
          <a:p>
            <a:pPr indent="0" marL="0">
              <a:lnSpc>
                <a:spcPct val="130000"/>
              </a:lnSpc>
              <a:buNone/>
            </a:pPr>
            <a:r>
              <a:rPr lang="en-US" sz="1050" dirty="0">
                <a:solidFill>
                  <a:srgbClr val="6B5D4F"/>
                </a:solidFill>
                <a:latin typeface="Arial" pitchFamily="34" charset="0"/>
                <a:ea typeface="Arial" pitchFamily="34" charset="-122"/>
                <a:cs typeface="Arial" pitchFamily="34" charset="-120"/>
              </a:rPr>
              <a:t>Market intelligence, competitor analysis,</a:t>
            </a:r>
            <a:endParaRPr lang="en-US" sz="1050" dirty="0"/>
          </a:p>
          <a:p>
            <a:pPr indent="0" marL="0">
              <a:lnSpc>
                <a:spcPct val="130000"/>
              </a:lnSpc>
              <a:buNone/>
            </a:pPr>
            <a:r>
              <a:rPr lang="en-US" sz="1050" dirty="0">
                <a:solidFill>
                  <a:srgbClr val="6B5D4F"/>
                </a:solidFill>
                <a:latin typeface="Arial" pitchFamily="34" charset="0"/>
                <a:ea typeface="Arial" pitchFamily="34" charset="-122"/>
                <a:cs typeface="Arial" pitchFamily="34" charset="-120"/>
              </a:rPr>
              <a:t>guest personas, content production,</a:t>
            </a:r>
            <a:endParaRPr lang="en-US" sz="1050" dirty="0"/>
          </a:p>
          <a:p>
            <a:pPr indent="0" marL="0">
              <a:lnSpc>
                <a:spcPct val="130000"/>
              </a:lnSpc>
              <a:buNone/>
            </a:pPr>
            <a:r>
              <a:rPr lang="en-US" sz="1050" dirty="0">
                <a:solidFill>
                  <a:srgbClr val="6B5D4F"/>
                </a:solidFill>
                <a:latin typeface="Arial" pitchFamily="34" charset="0"/>
                <a:ea typeface="Arial" pitchFamily="34" charset="-122"/>
                <a:cs typeface="Arial" pitchFamily="34" charset="-120"/>
              </a:rPr>
              <a:t>AI visibility optimization, multilingual copy.</a:t>
            </a:r>
            <a:endParaRPr lang="en-US" sz="1050" dirty="0"/>
          </a:p>
          <a:p>
            <a:pPr indent="0" marL="0">
              <a:lnSpc>
                <a:spcPct val="130000"/>
              </a:lnSpc>
              <a:buNone/>
            </a:pPr>
            <a:endParaRPr lang="en-US" sz="1050" dirty="0"/>
          </a:p>
          <a:p>
            <a:pPr indent="0" marL="0">
              <a:lnSpc>
                <a:spcPct val="130000"/>
              </a:lnSpc>
              <a:buNone/>
            </a:pPr>
            <a:r>
              <a:rPr lang="en-US" sz="1050" dirty="0">
                <a:solidFill>
                  <a:srgbClr val="6B5D4F"/>
                </a:solidFill>
                <a:latin typeface="Arial" pitchFamily="34" charset="0"/>
                <a:ea typeface="Arial" pitchFamily="34" charset="-122"/>
                <a:cs typeface="Arial" pitchFamily="34" charset="-120"/>
              </a:rPr>
              <a:t>97% gross margin (AI costs EUR 30-50/hotel).</a:t>
            </a:r>
            <a:endParaRPr lang="en-US" sz="1050" dirty="0"/>
          </a:p>
        </p:txBody>
      </p:sp>
      <p:sp>
        <p:nvSpPr>
          <p:cNvPr id="24" name="Text 21"/>
          <p:cNvSpPr/>
          <p:nvPr/>
        </p:nvSpPr>
        <p:spPr>
          <a:xfrm>
            <a:off x="548640" y="3520440"/>
            <a:ext cx="8229600" cy="274320"/>
          </a:xfrm>
          <a:prstGeom prst="rect">
            <a:avLst/>
          </a:prstGeom>
          <a:noFill/>
          <a:ln/>
        </p:spPr>
        <p:txBody>
          <a:bodyPr wrap="square" lIns="0" tIns="0" rIns="0" bIns="0" rtlCol="0" anchor="ctr"/>
          <a:lstStyle/>
          <a:p>
            <a:pPr indent="0" marL="0">
              <a:buNone/>
            </a:pPr>
            <a:r>
              <a:rPr lang="en-US" sz="1200" b="1" dirty="0">
                <a:solidFill>
                  <a:srgbClr val="2C2418"/>
                </a:solidFill>
                <a:latin typeface="Arial" pitchFamily="34" charset="0"/>
                <a:ea typeface="Arial" pitchFamily="34" charset="-122"/>
                <a:cs typeface="Arial" pitchFamily="34" charset="-120"/>
              </a:rPr>
              <a:t>Growth projections (from 10,000-run Monte Carlo simulation):</a:t>
            </a:r>
            <a:endParaRPr lang="en-US" sz="1200" dirty="0"/>
          </a:p>
        </p:txBody>
      </p:sp>
      <p:sp>
        <p:nvSpPr>
          <p:cNvPr id="25" name="Shape 22"/>
          <p:cNvSpPr/>
          <p:nvPr/>
        </p:nvSpPr>
        <p:spPr>
          <a:xfrm>
            <a:off x="457200" y="3886200"/>
            <a:ext cx="2011680" cy="1005840"/>
          </a:xfrm>
          <a:prstGeom prst="roundRect">
            <a:avLst>
              <a:gd name="adj" fmla="val 9091"/>
            </a:avLst>
          </a:prstGeom>
          <a:solidFill>
            <a:srgbClr val="FFFFFF"/>
          </a:solidFill>
          <a:ln/>
          <a:effectLst>
            <a:outerShdw sx="100000" sy="100000" kx="0" ky="0" algn="bl" rotWithShape="0" blurRad="50800" dist="12700" dir="8100000">
              <a:srgbClr val="000000">
                <a:alpha val="4000"/>
              </a:srgbClr>
            </a:outerShdw>
          </a:effectLst>
        </p:spPr>
      </p:sp>
      <p:sp>
        <p:nvSpPr>
          <p:cNvPr id="26" name="Text 23"/>
          <p:cNvSpPr/>
          <p:nvPr/>
        </p:nvSpPr>
        <p:spPr>
          <a:xfrm>
            <a:off x="457200" y="3950208"/>
            <a:ext cx="2011680" cy="228600"/>
          </a:xfrm>
          <a:prstGeom prst="rect">
            <a:avLst/>
          </a:prstGeom>
          <a:noFill/>
          <a:ln/>
        </p:spPr>
        <p:txBody>
          <a:bodyPr wrap="square" lIns="0" tIns="0" rIns="0" bIns="0" rtlCol="0" anchor="ctr"/>
          <a:lstStyle/>
          <a:p>
            <a:pPr algn="ctr" indent="0" marL="0">
              <a:buNone/>
            </a:pPr>
            <a:r>
              <a:rPr lang="en-US" sz="1000" b="1" dirty="0">
                <a:solidFill>
                  <a:srgbClr val="C45A3C"/>
                </a:solidFill>
                <a:latin typeface="Arial" pitchFamily="34" charset="0"/>
                <a:ea typeface="Arial" pitchFamily="34" charset="-122"/>
                <a:cs typeface="Arial" pitchFamily="34" charset="-120"/>
              </a:rPr>
              <a:t>Month 6-9</a:t>
            </a:r>
            <a:endParaRPr lang="en-US" sz="1000" dirty="0"/>
          </a:p>
        </p:txBody>
      </p:sp>
      <p:sp>
        <p:nvSpPr>
          <p:cNvPr id="27" name="Text 24"/>
          <p:cNvSpPr/>
          <p:nvPr/>
        </p:nvSpPr>
        <p:spPr>
          <a:xfrm>
            <a:off x="457200" y="4206240"/>
            <a:ext cx="2011680" cy="274320"/>
          </a:xfrm>
          <a:prstGeom prst="rect">
            <a:avLst/>
          </a:prstGeom>
          <a:noFill/>
          <a:ln/>
        </p:spPr>
        <p:txBody>
          <a:bodyPr wrap="square" lIns="0" tIns="0" rIns="0" bIns="0" rtlCol="0" anchor="ctr"/>
          <a:lstStyle/>
          <a:p>
            <a:pPr algn="ctr" indent="0" marL="0">
              <a:buNone/>
            </a:pPr>
            <a:r>
              <a:rPr lang="en-US" sz="1500" b="1" dirty="0">
                <a:solidFill>
                  <a:srgbClr val="2C2418"/>
                </a:solidFill>
                <a:latin typeface="Georgia" pitchFamily="34" charset="0"/>
                <a:ea typeface="Georgia" pitchFamily="34" charset="-122"/>
                <a:cs typeface="Georgia" pitchFamily="34" charset="-120"/>
              </a:rPr>
              <a:t>6-7 hotels</a:t>
            </a:r>
            <a:endParaRPr lang="en-US" sz="1500" dirty="0"/>
          </a:p>
        </p:txBody>
      </p:sp>
      <p:sp>
        <p:nvSpPr>
          <p:cNvPr id="28" name="Text 25"/>
          <p:cNvSpPr/>
          <p:nvPr/>
        </p:nvSpPr>
        <p:spPr>
          <a:xfrm>
            <a:off x="457200" y="4498848"/>
            <a:ext cx="2011680" cy="228600"/>
          </a:xfrm>
          <a:prstGeom prst="rect">
            <a:avLst/>
          </a:prstGeom>
          <a:noFill/>
          <a:ln/>
        </p:spPr>
        <p:txBody>
          <a:bodyPr wrap="square" lIns="0" tIns="0" rIns="0" bIns="0" rtlCol="0" anchor="ctr"/>
          <a:lstStyle/>
          <a:p>
            <a:pPr algn="ctr" indent="0" marL="0">
              <a:buNone/>
            </a:pPr>
            <a:r>
              <a:rPr lang="en-US" sz="1000" dirty="0">
                <a:solidFill>
                  <a:srgbClr val="3D7A4A"/>
                </a:solidFill>
                <a:latin typeface="Arial" pitchFamily="34" charset="0"/>
                <a:ea typeface="Arial" pitchFamily="34" charset="-122"/>
                <a:cs typeface="Arial" pitchFamily="34" charset="-120"/>
              </a:rPr>
              <a:t>Breakeven</a:t>
            </a:r>
            <a:endParaRPr lang="en-US" sz="1000" dirty="0"/>
          </a:p>
        </p:txBody>
      </p:sp>
      <p:sp>
        <p:nvSpPr>
          <p:cNvPr id="29" name="Shape 26"/>
          <p:cNvSpPr/>
          <p:nvPr/>
        </p:nvSpPr>
        <p:spPr>
          <a:xfrm>
            <a:off x="2606040" y="3886200"/>
            <a:ext cx="2011680" cy="1005840"/>
          </a:xfrm>
          <a:prstGeom prst="roundRect">
            <a:avLst>
              <a:gd name="adj" fmla="val 9091"/>
            </a:avLst>
          </a:prstGeom>
          <a:solidFill>
            <a:srgbClr val="FFFFFF"/>
          </a:solidFill>
          <a:ln/>
          <a:effectLst>
            <a:outerShdw sx="100000" sy="100000" kx="0" ky="0" algn="bl" rotWithShape="0" blurRad="50800" dist="12700" dir="8100000">
              <a:srgbClr val="000000">
                <a:alpha val="4000"/>
              </a:srgbClr>
            </a:outerShdw>
          </a:effectLst>
        </p:spPr>
      </p:sp>
      <p:sp>
        <p:nvSpPr>
          <p:cNvPr id="30" name="Text 27"/>
          <p:cNvSpPr/>
          <p:nvPr/>
        </p:nvSpPr>
        <p:spPr>
          <a:xfrm>
            <a:off x="2606040" y="3950208"/>
            <a:ext cx="2011680" cy="228600"/>
          </a:xfrm>
          <a:prstGeom prst="rect">
            <a:avLst/>
          </a:prstGeom>
          <a:noFill/>
          <a:ln/>
        </p:spPr>
        <p:txBody>
          <a:bodyPr wrap="square" lIns="0" tIns="0" rIns="0" bIns="0" rtlCol="0" anchor="ctr"/>
          <a:lstStyle/>
          <a:p>
            <a:pPr algn="ctr" indent="0" marL="0">
              <a:buNone/>
            </a:pPr>
            <a:r>
              <a:rPr lang="en-US" sz="1000" b="1" dirty="0">
                <a:solidFill>
                  <a:srgbClr val="C45A3C"/>
                </a:solidFill>
                <a:latin typeface="Arial" pitchFamily="34" charset="0"/>
                <a:ea typeface="Arial" pitchFamily="34" charset="-122"/>
                <a:cs typeface="Arial" pitchFamily="34" charset="-120"/>
              </a:rPr>
              <a:t>Year 1</a:t>
            </a:r>
            <a:endParaRPr lang="en-US" sz="1000" dirty="0"/>
          </a:p>
        </p:txBody>
      </p:sp>
      <p:sp>
        <p:nvSpPr>
          <p:cNvPr id="31" name="Text 28"/>
          <p:cNvSpPr/>
          <p:nvPr/>
        </p:nvSpPr>
        <p:spPr>
          <a:xfrm>
            <a:off x="2606040" y="4206240"/>
            <a:ext cx="2011680" cy="274320"/>
          </a:xfrm>
          <a:prstGeom prst="rect">
            <a:avLst/>
          </a:prstGeom>
          <a:noFill/>
          <a:ln/>
        </p:spPr>
        <p:txBody>
          <a:bodyPr wrap="square" lIns="0" tIns="0" rIns="0" bIns="0" rtlCol="0" anchor="ctr"/>
          <a:lstStyle/>
          <a:p>
            <a:pPr algn="ctr" indent="0" marL="0">
              <a:buNone/>
            </a:pPr>
            <a:r>
              <a:rPr lang="en-US" sz="1500" b="1" dirty="0">
                <a:solidFill>
                  <a:srgbClr val="2C2418"/>
                </a:solidFill>
                <a:latin typeface="Georgia" pitchFamily="34" charset="0"/>
                <a:ea typeface="Georgia" pitchFamily="34" charset="-122"/>
                <a:cs typeface="Georgia" pitchFamily="34" charset="-120"/>
              </a:rPr>
              <a:t>25-30 hotels</a:t>
            </a:r>
            <a:endParaRPr lang="en-US" sz="1500" dirty="0"/>
          </a:p>
        </p:txBody>
      </p:sp>
      <p:sp>
        <p:nvSpPr>
          <p:cNvPr id="32" name="Text 29"/>
          <p:cNvSpPr/>
          <p:nvPr/>
        </p:nvSpPr>
        <p:spPr>
          <a:xfrm>
            <a:off x="2606040" y="4498848"/>
            <a:ext cx="2011680" cy="228600"/>
          </a:xfrm>
          <a:prstGeom prst="rect">
            <a:avLst/>
          </a:prstGeom>
          <a:noFill/>
          <a:ln/>
        </p:spPr>
        <p:txBody>
          <a:bodyPr wrap="square" lIns="0" tIns="0" rIns="0" bIns="0" rtlCol="0" anchor="ctr"/>
          <a:lstStyle/>
          <a:p>
            <a:pPr algn="ctr" indent="0" marL="0">
              <a:buNone/>
            </a:pPr>
            <a:r>
              <a:rPr lang="en-US" sz="1000" dirty="0">
                <a:solidFill>
                  <a:srgbClr val="3D7A4A"/>
                </a:solidFill>
                <a:latin typeface="Arial" pitchFamily="34" charset="0"/>
                <a:ea typeface="Arial" pitchFamily="34" charset="-122"/>
                <a:cs typeface="Arial" pitchFamily="34" charset="-120"/>
              </a:rPr>
              <a:t>EUR 600-900K ARR</a:t>
            </a:r>
            <a:endParaRPr lang="en-US" sz="1000" dirty="0"/>
          </a:p>
        </p:txBody>
      </p:sp>
      <p:sp>
        <p:nvSpPr>
          <p:cNvPr id="33" name="Shape 30"/>
          <p:cNvSpPr/>
          <p:nvPr/>
        </p:nvSpPr>
        <p:spPr>
          <a:xfrm>
            <a:off x="4754880" y="3886200"/>
            <a:ext cx="2011680" cy="1005840"/>
          </a:xfrm>
          <a:prstGeom prst="roundRect">
            <a:avLst>
              <a:gd name="adj" fmla="val 9091"/>
            </a:avLst>
          </a:prstGeom>
          <a:solidFill>
            <a:srgbClr val="FFFFFF"/>
          </a:solidFill>
          <a:ln/>
          <a:effectLst>
            <a:outerShdw sx="100000" sy="100000" kx="0" ky="0" algn="bl" rotWithShape="0" blurRad="50800" dist="12700" dir="8100000">
              <a:srgbClr val="000000">
                <a:alpha val="4000"/>
              </a:srgbClr>
            </a:outerShdw>
          </a:effectLst>
        </p:spPr>
      </p:sp>
      <p:sp>
        <p:nvSpPr>
          <p:cNvPr id="34" name="Text 31"/>
          <p:cNvSpPr/>
          <p:nvPr/>
        </p:nvSpPr>
        <p:spPr>
          <a:xfrm>
            <a:off x="4754880" y="3950208"/>
            <a:ext cx="2011680" cy="228600"/>
          </a:xfrm>
          <a:prstGeom prst="rect">
            <a:avLst/>
          </a:prstGeom>
          <a:noFill/>
          <a:ln/>
        </p:spPr>
        <p:txBody>
          <a:bodyPr wrap="square" lIns="0" tIns="0" rIns="0" bIns="0" rtlCol="0" anchor="ctr"/>
          <a:lstStyle/>
          <a:p>
            <a:pPr algn="ctr" indent="0" marL="0">
              <a:buNone/>
            </a:pPr>
            <a:r>
              <a:rPr lang="en-US" sz="1000" b="1" dirty="0">
                <a:solidFill>
                  <a:srgbClr val="C45A3C"/>
                </a:solidFill>
                <a:latin typeface="Arial" pitchFamily="34" charset="0"/>
                <a:ea typeface="Arial" pitchFamily="34" charset="-122"/>
                <a:cs typeface="Arial" pitchFamily="34" charset="-120"/>
              </a:rPr>
              <a:t>Year 2</a:t>
            </a:r>
            <a:endParaRPr lang="en-US" sz="1000" dirty="0"/>
          </a:p>
        </p:txBody>
      </p:sp>
      <p:sp>
        <p:nvSpPr>
          <p:cNvPr id="35" name="Text 32"/>
          <p:cNvSpPr/>
          <p:nvPr/>
        </p:nvSpPr>
        <p:spPr>
          <a:xfrm>
            <a:off x="4754880" y="4206240"/>
            <a:ext cx="2011680" cy="274320"/>
          </a:xfrm>
          <a:prstGeom prst="rect">
            <a:avLst/>
          </a:prstGeom>
          <a:noFill/>
          <a:ln/>
        </p:spPr>
        <p:txBody>
          <a:bodyPr wrap="square" lIns="0" tIns="0" rIns="0" bIns="0" rtlCol="0" anchor="ctr"/>
          <a:lstStyle/>
          <a:p>
            <a:pPr algn="ctr" indent="0" marL="0">
              <a:buNone/>
            </a:pPr>
            <a:r>
              <a:rPr lang="en-US" sz="1500" b="1" dirty="0">
                <a:solidFill>
                  <a:srgbClr val="2C2418"/>
                </a:solidFill>
                <a:latin typeface="Georgia" pitchFamily="34" charset="0"/>
                <a:ea typeface="Georgia" pitchFamily="34" charset="-122"/>
                <a:cs typeface="Georgia" pitchFamily="34" charset="-120"/>
              </a:rPr>
              <a:t>50-80 hotels</a:t>
            </a:r>
            <a:endParaRPr lang="en-US" sz="1500" dirty="0"/>
          </a:p>
        </p:txBody>
      </p:sp>
      <p:sp>
        <p:nvSpPr>
          <p:cNvPr id="36" name="Text 33"/>
          <p:cNvSpPr/>
          <p:nvPr/>
        </p:nvSpPr>
        <p:spPr>
          <a:xfrm>
            <a:off x="4754880" y="4498848"/>
            <a:ext cx="2011680" cy="228600"/>
          </a:xfrm>
          <a:prstGeom prst="rect">
            <a:avLst/>
          </a:prstGeom>
          <a:noFill/>
          <a:ln/>
        </p:spPr>
        <p:txBody>
          <a:bodyPr wrap="square" lIns="0" tIns="0" rIns="0" bIns="0" rtlCol="0" anchor="ctr"/>
          <a:lstStyle/>
          <a:p>
            <a:pPr algn="ctr" indent="0" marL="0">
              <a:buNone/>
            </a:pPr>
            <a:r>
              <a:rPr lang="en-US" sz="1000" dirty="0">
                <a:solidFill>
                  <a:srgbClr val="3D7A4A"/>
                </a:solidFill>
                <a:latin typeface="Arial" pitchFamily="34" charset="0"/>
                <a:ea typeface="Arial" pitchFamily="34" charset="-122"/>
                <a:cs typeface="Arial" pitchFamily="34" charset="-120"/>
              </a:rPr>
              <a:t>EUR 1.5-2.4M ARR</a:t>
            </a:r>
            <a:endParaRPr lang="en-US" sz="1000" dirty="0"/>
          </a:p>
        </p:txBody>
      </p:sp>
      <p:sp>
        <p:nvSpPr>
          <p:cNvPr id="37" name="Shape 34"/>
          <p:cNvSpPr/>
          <p:nvPr/>
        </p:nvSpPr>
        <p:spPr>
          <a:xfrm>
            <a:off x="6903720" y="3886200"/>
            <a:ext cx="2011680" cy="1005840"/>
          </a:xfrm>
          <a:prstGeom prst="roundRect">
            <a:avLst>
              <a:gd name="adj" fmla="val 9091"/>
            </a:avLst>
          </a:prstGeom>
          <a:solidFill>
            <a:srgbClr val="FFFFFF"/>
          </a:solidFill>
          <a:ln/>
          <a:effectLst>
            <a:outerShdw sx="100000" sy="100000" kx="0" ky="0" algn="bl" rotWithShape="0" blurRad="50800" dist="12700" dir="8100000">
              <a:srgbClr val="000000">
                <a:alpha val="4000"/>
              </a:srgbClr>
            </a:outerShdw>
          </a:effectLst>
        </p:spPr>
      </p:sp>
      <p:sp>
        <p:nvSpPr>
          <p:cNvPr id="38" name="Text 35"/>
          <p:cNvSpPr/>
          <p:nvPr/>
        </p:nvSpPr>
        <p:spPr>
          <a:xfrm>
            <a:off x="6903720" y="3950208"/>
            <a:ext cx="2011680" cy="228600"/>
          </a:xfrm>
          <a:prstGeom prst="rect">
            <a:avLst/>
          </a:prstGeom>
          <a:noFill/>
          <a:ln/>
        </p:spPr>
        <p:txBody>
          <a:bodyPr wrap="square" lIns="0" tIns="0" rIns="0" bIns="0" rtlCol="0" anchor="ctr"/>
          <a:lstStyle/>
          <a:p>
            <a:pPr algn="ctr" indent="0" marL="0">
              <a:buNone/>
            </a:pPr>
            <a:r>
              <a:rPr lang="en-US" sz="1000" b="1" dirty="0">
                <a:solidFill>
                  <a:srgbClr val="C45A3C"/>
                </a:solidFill>
                <a:latin typeface="Arial" pitchFamily="34" charset="0"/>
                <a:ea typeface="Arial" pitchFamily="34" charset="-122"/>
                <a:cs typeface="Arial" pitchFamily="34" charset="-120"/>
              </a:rPr>
              <a:t>Year 3</a:t>
            </a:r>
            <a:endParaRPr lang="en-US" sz="1000" dirty="0"/>
          </a:p>
        </p:txBody>
      </p:sp>
      <p:sp>
        <p:nvSpPr>
          <p:cNvPr id="39" name="Text 36"/>
          <p:cNvSpPr/>
          <p:nvPr/>
        </p:nvSpPr>
        <p:spPr>
          <a:xfrm>
            <a:off x="6903720" y="4206240"/>
            <a:ext cx="2011680" cy="274320"/>
          </a:xfrm>
          <a:prstGeom prst="rect">
            <a:avLst/>
          </a:prstGeom>
          <a:noFill/>
          <a:ln/>
        </p:spPr>
        <p:txBody>
          <a:bodyPr wrap="square" lIns="0" tIns="0" rIns="0" bIns="0" rtlCol="0" anchor="ctr"/>
          <a:lstStyle/>
          <a:p>
            <a:pPr algn="ctr" indent="0" marL="0">
              <a:buNone/>
            </a:pPr>
            <a:r>
              <a:rPr lang="en-US" sz="1500" b="1" dirty="0">
                <a:solidFill>
                  <a:srgbClr val="2C2418"/>
                </a:solidFill>
                <a:latin typeface="Georgia" pitchFamily="34" charset="0"/>
                <a:ea typeface="Georgia" pitchFamily="34" charset="-122"/>
                <a:cs typeface="Georgia" pitchFamily="34" charset="-120"/>
              </a:rPr>
              <a:t>150-300 hotels</a:t>
            </a:r>
            <a:endParaRPr lang="en-US" sz="1500" dirty="0"/>
          </a:p>
        </p:txBody>
      </p:sp>
      <p:sp>
        <p:nvSpPr>
          <p:cNvPr id="40" name="Text 37"/>
          <p:cNvSpPr/>
          <p:nvPr/>
        </p:nvSpPr>
        <p:spPr>
          <a:xfrm>
            <a:off x="6903720" y="4498848"/>
            <a:ext cx="2011680" cy="228600"/>
          </a:xfrm>
          <a:prstGeom prst="rect">
            <a:avLst/>
          </a:prstGeom>
          <a:noFill/>
          <a:ln/>
        </p:spPr>
        <p:txBody>
          <a:bodyPr wrap="square" lIns="0" tIns="0" rIns="0" bIns="0" rtlCol="0" anchor="ctr"/>
          <a:lstStyle/>
          <a:p>
            <a:pPr algn="ctr" indent="0" marL="0">
              <a:buNone/>
            </a:pPr>
            <a:r>
              <a:rPr lang="en-US" sz="1000" dirty="0">
                <a:solidFill>
                  <a:srgbClr val="3D7A4A"/>
                </a:solidFill>
                <a:latin typeface="Arial" pitchFamily="34" charset="0"/>
                <a:ea typeface="Arial" pitchFamily="34" charset="-122"/>
                <a:cs typeface="Arial" pitchFamily="34" charset="-120"/>
              </a:rPr>
              <a:t>EUR 4-8M ARR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5A3C"/>
          </a:solidFill>
          <a:ln/>
        </p:spPr>
      </p:sp>
      <p:sp>
        <p:nvSpPr>
          <p:cNvPr id="3" name="Text 1"/>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B8A088"/>
                </a:solidFill>
                <a:latin typeface="Arial" pitchFamily="34" charset="0"/>
                <a:ea typeface="Arial" pitchFamily="34" charset="-122"/>
                <a:cs typeface="Arial" pitchFamily="34" charset="-120"/>
              </a:rPr>
              <a:t>9/10</a:t>
            </a:r>
            <a:endParaRPr lang="en-US" sz="900" dirty="0"/>
          </a:p>
        </p:txBody>
      </p:sp>
      <p:sp>
        <p:nvSpPr>
          <p:cNvPr id="4" name="Text 2"/>
          <p:cNvSpPr/>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2C2418"/>
                </a:solidFill>
                <a:latin typeface="Georgia" pitchFamily="34" charset="0"/>
                <a:ea typeface="Georgia" pitchFamily="34" charset="-122"/>
                <a:cs typeface="Georgia" pitchFamily="34" charset="-120"/>
              </a:rPr>
              <a:t>The Deal — Sunday Meeting</a:t>
            </a:r>
            <a:endParaRPr lang="en-US" sz="2800" dirty="0"/>
          </a:p>
        </p:txBody>
      </p:sp>
      <p:sp>
        <p:nvSpPr>
          <p:cNvPr id="5" name="Text 3"/>
          <p:cNvSpPr/>
          <p:nvPr/>
        </p:nvSpPr>
        <p:spPr>
          <a:xfrm>
            <a:off x="548640" y="960120"/>
            <a:ext cx="2743200" cy="32004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The people:</a:t>
            </a:r>
            <a:endParaRPr lang="en-US" sz="1400" dirty="0"/>
          </a:p>
        </p:txBody>
      </p:sp>
      <p:sp>
        <p:nvSpPr>
          <p:cNvPr id="6" name="Shape 4"/>
          <p:cNvSpPr/>
          <p:nvPr/>
        </p:nvSpPr>
        <p:spPr>
          <a:xfrm>
            <a:off x="457200" y="1371600"/>
            <a:ext cx="8229600" cy="594360"/>
          </a:xfrm>
          <a:prstGeom prst="roundRect">
            <a:avLst>
              <a:gd name="adj" fmla="val 15385"/>
            </a:avLst>
          </a:prstGeom>
          <a:solidFill>
            <a:srgbClr val="FFFFFF"/>
          </a:solidFill>
          <a:ln/>
          <a:effectLst>
            <a:outerShdw sx="100000" sy="100000" kx="0" ky="0" algn="bl" rotWithShape="0" blurRad="50800" dist="12700" dir="8100000">
              <a:srgbClr val="000000">
                <a:alpha val="4000"/>
              </a:srgbClr>
            </a:outerShdw>
          </a:effectLst>
        </p:spPr>
      </p:sp>
      <p:pic>
        <p:nvPicPr>
          <p:cNvPr id="7" name="Image 0" descr="preencoded.png">    </p:cNvPr>
          <p:cNvPicPr>
            <a:picLocks noChangeAspect="1"/>
          </p:cNvPicPr>
          <p:nvPr/>
        </p:nvPicPr>
        <p:blipFill>
          <a:blip r:embed="rId1"/>
          <a:stretch>
            <a:fillRect/>
          </a:stretch>
        </p:blipFill>
        <p:spPr>
          <a:xfrm>
            <a:off x="640080" y="1508760"/>
            <a:ext cx="320040" cy="320040"/>
          </a:xfrm>
          <a:prstGeom prst="rect">
            <a:avLst/>
          </a:prstGeom>
        </p:spPr>
      </p:pic>
      <p:sp>
        <p:nvSpPr>
          <p:cNvPr id="8" name="Text 5"/>
          <p:cNvSpPr/>
          <p:nvPr/>
        </p:nvSpPr>
        <p:spPr>
          <a:xfrm>
            <a:off x="1097280" y="1417320"/>
            <a:ext cx="2286000" cy="502920"/>
          </a:xfrm>
          <a:prstGeom prst="rect">
            <a:avLst/>
          </a:prstGeom>
          <a:noFill/>
          <a:ln/>
        </p:spPr>
        <p:txBody>
          <a:bodyPr wrap="square" lIns="0" tIns="0" rIns="0" bIns="0" rtlCol="0" anchor="ctr"/>
          <a:lstStyle/>
          <a:p>
            <a:pPr indent="0" marL="0">
              <a:buNone/>
            </a:pPr>
            <a:r>
              <a:rPr lang="en-US" sz="1300" b="1" dirty="0">
                <a:solidFill>
                  <a:srgbClr val="2E5FAA"/>
                </a:solidFill>
                <a:latin typeface="Arial" pitchFamily="34" charset="0"/>
                <a:ea typeface="Arial" pitchFamily="34" charset="-122"/>
                <a:cs typeface="Arial" pitchFamily="34" charset="-120"/>
              </a:rPr>
              <a:t>Marco (your husband)</a:t>
            </a:r>
            <a:endParaRPr lang="en-US" sz="1300" dirty="0"/>
          </a:p>
        </p:txBody>
      </p:sp>
      <p:sp>
        <p:nvSpPr>
          <p:cNvPr id="9" name="Text 6"/>
          <p:cNvSpPr/>
          <p:nvPr/>
        </p:nvSpPr>
        <p:spPr>
          <a:xfrm>
            <a:off x="3474720" y="1417320"/>
            <a:ext cx="5029200" cy="502920"/>
          </a:xfrm>
          <a:prstGeom prst="rect">
            <a:avLst/>
          </a:prstGeom>
          <a:noFill/>
          <a:ln/>
        </p:spPr>
        <p:txBody>
          <a:bodyPr wrap="square" lIns="0" tIns="0" rIns="0" bIns="0" rtlCol="0" anchor="ctr"/>
          <a:lstStyle/>
          <a:p>
            <a:pPr indent="0" marL="0">
              <a:lnSpc>
                <a:spcPct val="125000"/>
              </a:lnSpc>
              <a:buNone/>
            </a:pPr>
            <a:r>
              <a:rPr lang="en-US" sz="1100" dirty="0">
                <a:solidFill>
                  <a:srgbClr val="6B5D4F"/>
                </a:solidFill>
                <a:latin typeface="Arial" pitchFamily="34" charset="0"/>
                <a:ea typeface="Arial" pitchFamily="34" charset="-122"/>
                <a:cs typeface="Arial" pitchFamily="34" charset="-120"/>
              </a:rPr>
              <a:t>CEO. Builds the product,</a:t>
            </a:r>
            <a:endParaRPr lang="en-US" sz="1100" dirty="0"/>
          </a:p>
          <a:p>
            <a:pPr indent="0" marL="0">
              <a:lnSpc>
                <a:spcPct val="125000"/>
              </a:lnSpc>
              <a:buNone/>
            </a:pPr>
            <a:r>
              <a:rPr lang="en-US" sz="1100" dirty="0">
                <a:solidFill>
                  <a:srgbClr val="6B5D4F"/>
                </a:solidFill>
                <a:latin typeface="Arial" pitchFamily="34" charset="0"/>
                <a:ea typeface="Arial" pitchFamily="34" charset="-122"/>
                <a:cs typeface="Arial" pitchFamily="34" charset="-120"/>
              </a:rPr>
              <a:t>runs the company, full-time.</a:t>
            </a:r>
            <a:endParaRPr lang="en-US" sz="1100" dirty="0"/>
          </a:p>
        </p:txBody>
      </p:sp>
      <p:sp>
        <p:nvSpPr>
          <p:cNvPr id="10" name="Shape 7"/>
          <p:cNvSpPr/>
          <p:nvPr/>
        </p:nvSpPr>
        <p:spPr>
          <a:xfrm>
            <a:off x="457200" y="2029968"/>
            <a:ext cx="8229600" cy="594360"/>
          </a:xfrm>
          <a:prstGeom prst="roundRect">
            <a:avLst>
              <a:gd name="adj" fmla="val 15385"/>
            </a:avLst>
          </a:prstGeom>
          <a:solidFill>
            <a:srgbClr val="FFFFFF"/>
          </a:solidFill>
          <a:ln/>
          <a:effectLst>
            <a:outerShdw sx="100000" sy="100000" kx="0" ky="0" algn="bl" rotWithShape="0" blurRad="50800" dist="12700" dir="8100000">
              <a:srgbClr val="000000">
                <a:alpha val="4000"/>
              </a:srgbClr>
            </a:outerShdw>
          </a:effectLst>
        </p:spPr>
      </p:sp>
      <p:pic>
        <p:nvPicPr>
          <p:cNvPr id="11" name="Image 1" descr="preencoded.png">    </p:cNvPr>
          <p:cNvPicPr>
            <a:picLocks noChangeAspect="1"/>
          </p:cNvPicPr>
          <p:nvPr/>
        </p:nvPicPr>
        <p:blipFill>
          <a:blip r:embed="rId2"/>
          <a:stretch>
            <a:fillRect/>
          </a:stretch>
        </p:blipFill>
        <p:spPr>
          <a:xfrm>
            <a:off x="640080" y="2167128"/>
            <a:ext cx="320040" cy="320040"/>
          </a:xfrm>
          <a:prstGeom prst="rect">
            <a:avLst/>
          </a:prstGeom>
        </p:spPr>
      </p:pic>
      <p:sp>
        <p:nvSpPr>
          <p:cNvPr id="12" name="Text 8"/>
          <p:cNvSpPr/>
          <p:nvPr/>
        </p:nvSpPr>
        <p:spPr>
          <a:xfrm>
            <a:off x="1097280" y="2075688"/>
            <a:ext cx="2286000" cy="502920"/>
          </a:xfrm>
          <a:prstGeom prst="rect">
            <a:avLst/>
          </a:prstGeom>
          <a:noFill/>
          <a:ln/>
        </p:spPr>
        <p:txBody>
          <a:bodyPr wrap="square" lIns="0" tIns="0" rIns="0" bIns="0" rtlCol="0" anchor="ctr"/>
          <a:lstStyle/>
          <a:p>
            <a:pPr indent="0" marL="0">
              <a:buNone/>
            </a:pPr>
            <a:r>
              <a:rPr lang="en-US" sz="1300" b="1" dirty="0">
                <a:solidFill>
                  <a:srgbClr val="C45A3C"/>
                </a:solidFill>
                <a:latin typeface="Arial" pitchFamily="34" charset="0"/>
                <a:ea typeface="Arial" pitchFamily="34" charset="-122"/>
                <a:cs typeface="Arial" pitchFamily="34" charset="-120"/>
              </a:rPr>
              <a:t>Amedeo Guffanti</a:t>
            </a:r>
            <a:endParaRPr lang="en-US" sz="1300" dirty="0"/>
          </a:p>
        </p:txBody>
      </p:sp>
      <p:sp>
        <p:nvSpPr>
          <p:cNvPr id="13" name="Text 9"/>
          <p:cNvSpPr/>
          <p:nvPr/>
        </p:nvSpPr>
        <p:spPr>
          <a:xfrm>
            <a:off x="3474720" y="2075688"/>
            <a:ext cx="5029200" cy="502920"/>
          </a:xfrm>
          <a:prstGeom prst="rect">
            <a:avLst/>
          </a:prstGeom>
          <a:noFill/>
          <a:ln/>
        </p:spPr>
        <p:txBody>
          <a:bodyPr wrap="square" lIns="0" tIns="0" rIns="0" bIns="0" rtlCol="0" anchor="ctr"/>
          <a:lstStyle/>
          <a:p>
            <a:pPr indent="0" marL="0">
              <a:lnSpc>
                <a:spcPct val="125000"/>
              </a:lnSpc>
              <a:buNone/>
            </a:pPr>
            <a:r>
              <a:rPr lang="en-US" sz="1100" dirty="0">
                <a:solidFill>
                  <a:srgbClr val="6B5D4F"/>
                </a:solidFill>
                <a:latin typeface="Arial" pitchFamily="34" charset="0"/>
                <a:ea typeface="Arial" pitchFamily="34" charset="-122"/>
                <a:cs typeface="Arial" pitchFamily="34" charset="-120"/>
              </a:rPr>
              <a:t>JAKALA Global MD. Capital,</a:t>
            </a:r>
            <a:endParaRPr lang="en-US" sz="1100" dirty="0"/>
          </a:p>
          <a:p>
            <a:pPr indent="0" marL="0">
              <a:lnSpc>
                <a:spcPct val="125000"/>
              </a:lnSpc>
              <a:buNone/>
            </a:pPr>
            <a:r>
              <a:rPr lang="en-US" sz="1100" dirty="0">
                <a:solidFill>
                  <a:srgbClr val="6B5D4F"/>
                </a:solidFill>
                <a:latin typeface="Arial" pitchFamily="34" charset="0"/>
                <a:ea typeface="Arial" pitchFamily="34" charset="-122"/>
                <a:cs typeface="Arial" pitchFamily="34" charset="-120"/>
              </a:rPr>
              <a:t>hotel connections, industry network.</a:t>
            </a:r>
            <a:endParaRPr lang="en-US" sz="1100" dirty="0"/>
          </a:p>
        </p:txBody>
      </p:sp>
      <p:sp>
        <p:nvSpPr>
          <p:cNvPr id="14" name="Shape 10"/>
          <p:cNvSpPr/>
          <p:nvPr/>
        </p:nvSpPr>
        <p:spPr>
          <a:xfrm>
            <a:off x="457200" y="2688336"/>
            <a:ext cx="8229600" cy="594360"/>
          </a:xfrm>
          <a:prstGeom prst="roundRect">
            <a:avLst>
              <a:gd name="adj" fmla="val 15385"/>
            </a:avLst>
          </a:prstGeom>
          <a:solidFill>
            <a:srgbClr val="FFFFFF"/>
          </a:solidFill>
          <a:ln/>
          <a:effectLst>
            <a:outerShdw sx="100000" sy="100000" kx="0" ky="0" algn="bl" rotWithShape="0" blurRad="50800" dist="12700" dir="8100000">
              <a:srgbClr val="000000">
                <a:alpha val="4000"/>
              </a:srgbClr>
            </a:outerShdw>
          </a:effectLst>
        </p:spPr>
      </p:sp>
      <p:pic>
        <p:nvPicPr>
          <p:cNvPr id="15" name="Image 2" descr="preencoded.png">    </p:cNvPr>
          <p:cNvPicPr>
            <a:picLocks noChangeAspect="1"/>
          </p:cNvPicPr>
          <p:nvPr/>
        </p:nvPicPr>
        <p:blipFill>
          <a:blip r:embed="rId3"/>
          <a:stretch>
            <a:fillRect/>
          </a:stretch>
        </p:blipFill>
        <p:spPr>
          <a:xfrm>
            <a:off x="640080" y="2825496"/>
            <a:ext cx="320040" cy="320040"/>
          </a:xfrm>
          <a:prstGeom prst="rect">
            <a:avLst/>
          </a:prstGeom>
        </p:spPr>
      </p:pic>
      <p:sp>
        <p:nvSpPr>
          <p:cNvPr id="16" name="Text 11"/>
          <p:cNvSpPr/>
          <p:nvPr/>
        </p:nvSpPr>
        <p:spPr>
          <a:xfrm>
            <a:off x="1097280" y="2734056"/>
            <a:ext cx="2286000" cy="502920"/>
          </a:xfrm>
          <a:prstGeom prst="rect">
            <a:avLst/>
          </a:prstGeom>
          <a:noFill/>
          <a:ln/>
        </p:spPr>
        <p:txBody>
          <a:bodyPr wrap="square" lIns="0" tIns="0" rIns="0" bIns="0" rtlCol="0" anchor="ctr"/>
          <a:lstStyle/>
          <a:p>
            <a:pPr indent="0" marL="0">
              <a:buNone/>
            </a:pPr>
            <a:r>
              <a:rPr lang="en-US" sz="1300" b="1" dirty="0">
                <a:solidFill>
                  <a:srgbClr val="C45A3C"/>
                </a:solidFill>
                <a:latin typeface="Arial" pitchFamily="34" charset="0"/>
                <a:ea typeface="Arial" pitchFamily="34" charset="-122"/>
                <a:cs typeface="Arial" pitchFamily="34" charset="-120"/>
              </a:rPr>
              <a:t>Marco Corsaro</a:t>
            </a:r>
            <a:endParaRPr lang="en-US" sz="1300" dirty="0"/>
          </a:p>
        </p:txBody>
      </p:sp>
      <p:sp>
        <p:nvSpPr>
          <p:cNvPr id="17" name="Text 12"/>
          <p:cNvSpPr/>
          <p:nvPr/>
        </p:nvSpPr>
        <p:spPr>
          <a:xfrm>
            <a:off x="3474720" y="2734056"/>
            <a:ext cx="5029200" cy="502920"/>
          </a:xfrm>
          <a:prstGeom prst="rect">
            <a:avLst/>
          </a:prstGeom>
          <a:noFill/>
          <a:ln/>
        </p:spPr>
        <p:txBody>
          <a:bodyPr wrap="square" lIns="0" tIns="0" rIns="0" bIns="0" rtlCol="0" anchor="ctr"/>
          <a:lstStyle/>
          <a:p>
            <a:pPr indent="0" marL="0">
              <a:lnSpc>
                <a:spcPct val="125000"/>
              </a:lnSpc>
              <a:buNone/>
            </a:pPr>
            <a:r>
              <a:rPr lang="en-US" sz="1100" dirty="0">
                <a:solidFill>
                  <a:srgbClr val="6B5D4F"/>
                </a:solidFill>
                <a:latin typeface="Arial" pitchFamily="34" charset="0"/>
                <a:ea typeface="Arial" pitchFamily="34" charset="-122"/>
                <a:cs typeface="Arial" pitchFamily="34" charset="-120"/>
              </a:rPr>
              <a:t>JAKALA Digital MD. SEO/analytics</a:t>
            </a:r>
            <a:endParaRPr lang="en-US" sz="1100" dirty="0"/>
          </a:p>
          <a:p>
            <a:pPr indent="0" marL="0">
              <a:lnSpc>
                <a:spcPct val="125000"/>
              </a:lnSpc>
              <a:buNone/>
            </a:pPr>
            <a:r>
              <a:rPr lang="en-US" sz="1100" dirty="0">
                <a:solidFill>
                  <a:srgbClr val="6B5D4F"/>
                </a:solidFill>
                <a:latin typeface="Arial" pitchFamily="34" charset="0"/>
                <a:ea typeface="Arial" pitchFamily="34" charset="-122"/>
                <a:cs typeface="Arial" pitchFamily="34" charset="-120"/>
              </a:rPr>
              <a:t>expertise, hotel chain relationships.</a:t>
            </a:r>
            <a:endParaRPr lang="en-US" sz="1100" dirty="0"/>
          </a:p>
        </p:txBody>
      </p:sp>
      <p:sp>
        <p:nvSpPr>
          <p:cNvPr id="18" name="Text 13"/>
          <p:cNvSpPr/>
          <p:nvPr/>
        </p:nvSpPr>
        <p:spPr>
          <a:xfrm>
            <a:off x="548640" y="3337560"/>
            <a:ext cx="2743200" cy="320040"/>
          </a:xfrm>
          <a:prstGeom prst="rect">
            <a:avLst/>
          </a:prstGeom>
          <a:noFill/>
          <a:ln/>
        </p:spPr>
        <p:txBody>
          <a:bodyPr wrap="square" lIns="0" tIns="0" rIns="0" bIns="0" rtlCol="0" anchor="ctr"/>
          <a:lstStyle/>
          <a:p>
            <a:pPr indent="0" marL="0">
              <a:buNone/>
            </a:pPr>
            <a:r>
              <a:rPr lang="en-US" sz="1400" b="1" dirty="0">
                <a:solidFill>
                  <a:srgbClr val="2C2418"/>
                </a:solidFill>
                <a:latin typeface="Georgia" pitchFamily="34" charset="0"/>
                <a:ea typeface="Georgia" pitchFamily="34" charset="-122"/>
                <a:cs typeface="Georgia" pitchFamily="34" charset="-120"/>
              </a:rPr>
              <a:t>The structure:</a:t>
            </a:r>
            <a:endParaRPr lang="en-US" sz="1400" dirty="0"/>
          </a:p>
        </p:txBody>
      </p:sp>
      <p:sp>
        <p:nvSpPr>
          <p:cNvPr id="19" name="Shape 14"/>
          <p:cNvSpPr/>
          <p:nvPr/>
        </p:nvSpPr>
        <p:spPr>
          <a:xfrm>
            <a:off x="457200" y="3703320"/>
            <a:ext cx="8229600" cy="1188720"/>
          </a:xfrm>
          <a:prstGeom prst="roundRect">
            <a:avLst>
              <a:gd name="adj" fmla="val 9231"/>
            </a:avLst>
          </a:prstGeom>
          <a:solidFill>
            <a:srgbClr val="F5EDE4"/>
          </a:solidFill>
          <a:ln/>
        </p:spPr>
      </p:sp>
      <p:sp>
        <p:nvSpPr>
          <p:cNvPr id="20" name="Text 15"/>
          <p:cNvSpPr/>
          <p:nvPr/>
        </p:nvSpPr>
        <p:spPr>
          <a:xfrm>
            <a:off x="731520" y="3794760"/>
            <a:ext cx="7680960" cy="1005840"/>
          </a:xfrm>
          <a:prstGeom prst="rect">
            <a:avLst/>
          </a:prstGeom>
          <a:noFill/>
          <a:ln/>
        </p:spPr>
        <p:txBody>
          <a:bodyPr wrap="square" rtlCol="0" anchor="t"/>
          <a:lstStyle/>
          <a:p>
            <a:pPr indent="0" marL="0">
              <a:lnSpc>
                <a:spcPct val="120000"/>
              </a:lnSpc>
              <a:buNone/>
            </a:pPr>
            <a:r>
              <a:rPr lang="en-US" sz="1150" dirty="0">
                <a:solidFill>
                  <a:srgbClr val="2C2418"/>
                </a:solidFill>
              </a:rPr>
              <a:t>Swiss company (AG) incorporated in Zug — the most tax-efficient canton in Switzerland.</a:t>
            </a:r>
            <a:endParaRPr lang="en-US" sz="1150" dirty="0"/>
          </a:p>
          <a:p>
            <a:pPr indent="0" marL="0">
              <a:lnSpc>
                <a:spcPct val="120000"/>
              </a:lnSpc>
              <a:buNone/>
            </a:pPr>
            <a:endParaRPr lang="en-US" sz="1150" dirty="0"/>
          </a:p>
          <a:p>
            <a:pPr indent="0" marL="0">
              <a:lnSpc>
                <a:spcPct val="120000"/>
              </a:lnSpc>
              <a:buNone/>
            </a:pPr>
            <a:r>
              <a:rPr lang="en-US" sz="1150" dirty="0">
                <a:solidFill>
                  <a:srgbClr val="2C2418"/>
                </a:solidFill>
              </a:rPr>
              <a:t>Amedeo &amp; Corsaro invest CHF 150-190K seed capital + their hotel network + pilot chain.</a:t>
            </a:r>
            <a:endParaRPr lang="en-US" sz="1150" dirty="0"/>
          </a:p>
          <a:p>
            <a:pPr indent="0" marL="0">
              <a:lnSpc>
                <a:spcPct val="120000"/>
              </a:lnSpc>
              <a:buNone/>
            </a:pPr>
            <a:endParaRPr lang="en-US" sz="1150" dirty="0"/>
          </a:p>
          <a:p>
            <a:pPr indent="0" marL="0">
              <a:lnSpc>
                <a:spcPct val="120000"/>
              </a:lnSpc>
              <a:buNone/>
            </a:pPr>
            <a:r>
              <a:rPr lang="en-US" sz="1150" dirty="0">
                <a:solidFill>
                  <a:srgbClr val="2C2418"/>
                </a:solidFill>
              </a:rPr>
              <a:t>Marco gets equity (targeting 25-35%), salary starting at CHF 60K growing with milestones, and runs everything day-to-day. They advise and connect, he builds.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24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5A3C"/>
          </a:solidFill>
          <a:ln/>
        </p:spPr>
      </p:sp>
      <p:pic>
        <p:nvPicPr>
          <p:cNvPr id="3" name="Image 0" descr="preencoded.png">    </p:cNvPr>
          <p:cNvPicPr>
            <a:picLocks noChangeAspect="1"/>
          </p:cNvPicPr>
          <p:nvPr/>
        </p:nvPicPr>
        <p:blipFill>
          <a:blip r:embed="rId1"/>
          <a:stretch>
            <a:fillRect/>
          </a:stretch>
        </p:blipFill>
        <p:spPr>
          <a:xfrm>
            <a:off x="640080" y="1005840"/>
            <a:ext cx="457200" cy="457200"/>
          </a:xfrm>
          <a:prstGeom prst="rect">
            <a:avLst/>
          </a:prstGeom>
        </p:spPr>
      </p:pic>
      <p:sp>
        <p:nvSpPr>
          <p:cNvPr id="4" name="Text 1"/>
          <p:cNvSpPr/>
          <p:nvPr/>
        </p:nvSpPr>
        <p:spPr>
          <a:xfrm>
            <a:off x="548640" y="155448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Why This Matters</a:t>
            </a:r>
            <a:endParaRPr lang="en-US" sz="3200" dirty="0"/>
          </a:p>
        </p:txBody>
      </p:sp>
      <p:sp>
        <p:nvSpPr>
          <p:cNvPr id="5" name="Text 2"/>
          <p:cNvSpPr/>
          <p:nvPr/>
        </p:nvSpPr>
        <p:spPr>
          <a:xfrm>
            <a:off x="548640" y="2331720"/>
            <a:ext cx="7680960" cy="2286000"/>
          </a:xfrm>
          <a:prstGeom prst="rect">
            <a:avLst/>
          </a:prstGeom>
          <a:noFill/>
          <a:ln/>
        </p:spPr>
        <p:txBody>
          <a:bodyPr wrap="square" rtlCol="0" anchor="ctr"/>
          <a:lstStyle/>
          <a:p>
            <a:pPr indent="0" marL="0">
              <a:lnSpc>
                <a:spcPct val="145000"/>
              </a:lnSpc>
              <a:buNone/>
            </a:pPr>
            <a:r>
              <a:rPr lang="en-US" sz="1400" dirty="0">
                <a:solidFill>
                  <a:srgbClr val="B8A088"/>
                </a:solidFill>
              </a:rPr>
              <a:t>Marco spent today building the foundation of a dataset that no competitor has — detailed intelligence on every hotel in the world.</a:t>
            </a:r>
            <a:endParaRPr lang="en-US" sz="1400" dirty="0"/>
          </a:p>
          <a:p>
            <a:pPr indent="0" marL="0">
              <a:lnSpc>
                <a:spcPct val="145000"/>
              </a:lnSpc>
              <a:buNone/>
            </a:pPr>
            <a:endParaRPr lang="en-US" sz="1400" dirty="0"/>
          </a:p>
          <a:p>
            <a:pPr indent="0" marL="0">
              <a:lnSpc>
                <a:spcPct val="145000"/>
              </a:lnSpc>
              <a:buNone/>
            </a:pPr>
            <a:r>
              <a:rPr lang="en-US" sz="1400" dirty="0">
                <a:solidFill>
                  <a:srgbClr val="B8A088"/>
                </a:solidFill>
              </a:rPr>
              <a:t>This dataset is what makes the product work from day one. A hotel signs up and the AI already knows their guests, their competitors, and what content to produce. No other company can do this.</a:t>
            </a:r>
            <a:endParaRPr lang="en-US" sz="1400" dirty="0"/>
          </a:p>
          <a:p>
            <a:pPr indent="0" marL="0">
              <a:lnSpc>
                <a:spcPct val="145000"/>
              </a:lnSpc>
              <a:buNone/>
            </a:pPr>
            <a:endParaRPr lang="en-US" sz="1400" dirty="0"/>
          </a:p>
          <a:p>
            <a:pPr indent="0" marL="0">
              <a:lnSpc>
                <a:spcPct val="145000"/>
              </a:lnSpc>
              <a:buNone/>
            </a:pPr>
            <a:r>
              <a:rPr lang="en-US" sz="1400" b="1" dirty="0">
                <a:solidFill>
                  <a:srgbClr val="FFFFFF"/>
                </a:solidFill>
              </a:rPr>
              <a:t>Tomorrow he sits down to negotiate the deal that turns this into a real company.</a:t>
            </a:r>
            <a:endParaRPr lang="en-US" sz="1400" dirty="0"/>
          </a:p>
        </p:txBody>
      </p:sp>
      <p:sp>
        <p:nvSpPr>
          <p:cNvPr id="6" name="Shape 3"/>
          <p:cNvSpPr/>
          <p:nvPr/>
        </p:nvSpPr>
        <p:spPr>
          <a:xfrm>
            <a:off x="548640" y="4572000"/>
            <a:ext cx="1828800" cy="2743"/>
          </a:xfrm>
          <a:prstGeom prst="rect">
            <a:avLst/>
          </a:prstGeom>
          <a:solidFill>
            <a:srgbClr val="C45A3C"/>
          </a:solidFill>
          <a:ln/>
        </p:spPr>
      </p:sp>
      <p:sp>
        <p:nvSpPr>
          <p:cNvPr id="7" name="Text 4"/>
          <p:cNvSpPr/>
          <p:nvPr/>
        </p:nvSpPr>
        <p:spPr>
          <a:xfrm>
            <a:off x="548640" y="4663440"/>
            <a:ext cx="3657600" cy="274320"/>
          </a:xfrm>
          <a:prstGeom prst="rect">
            <a:avLst/>
          </a:prstGeom>
          <a:noFill/>
          <a:ln/>
        </p:spPr>
        <p:txBody>
          <a:bodyPr wrap="square" rtlCol="0" anchor="ctr"/>
          <a:lstStyle/>
          <a:p>
            <a:pPr indent="0" marL="0">
              <a:buNone/>
            </a:pPr>
            <a:r>
              <a:rPr lang="en-US" sz="1000" dirty="0">
                <a:solidFill>
                  <a:srgbClr val="6B5D4F"/>
                </a:solidFill>
                <a:latin typeface="Arial" pitchFamily="34" charset="0"/>
                <a:ea typeface="Arial" pitchFamily="34" charset="-122"/>
                <a:cs typeface="Arial" pitchFamily="34" charset="-120"/>
              </a:rPr>
              <a:t>Tercier AG — Zug, Switzerland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Marco Built Today — Explained Simply</dc:title>
  <dc:subject>PptxGenJS Presentation</dc:subject>
  <dc:creator>Marco Di Cesare</dc:creator>
  <cp:lastModifiedBy>Marco Di Cesare</cp:lastModifiedBy>
  <cp:revision>1</cp:revision>
  <dcterms:created xsi:type="dcterms:W3CDTF">2026-03-28T20:07:37Z</dcterms:created>
  <dcterms:modified xsi:type="dcterms:W3CDTF">2026-03-28T20:07:37Z</dcterms:modified>
</cp:coreProperties>
</file>