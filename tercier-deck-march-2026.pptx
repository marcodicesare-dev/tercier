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8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TERCIER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651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Vertical AI for Premium Hospitality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8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tercier.ai | March 22, 2026 | Marco Di Cesare, Founder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 Days of Work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645920" cy="493776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2,069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632204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4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raw HotellerieSuisse rows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40280" y="1097280"/>
            <a:ext cx="1645920" cy="493776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40280" y="1097280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718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240280" y="1632204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4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selected dossiers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023360" y="1097280"/>
            <a:ext cx="1645920" cy="493776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0" y="1097280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023360" y="1632204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4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ICP hotels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06440" y="1097280"/>
            <a:ext cx="1645920" cy="493776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06440" y="1097280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1,632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806440" y="1632204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4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survey simulations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19456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financial model: 10,000 simulations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 with current pricing and funding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Tax-optimized Zug AG structure (11.8% corporate tax)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tercier.ai secured, tercier.com available (CHF 1,200)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D4A85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2,295 authored commits across 6 repos in 82 days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Market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272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addressable Swiss hotels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A8BA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4-5 star, ADR &gt;= CHF 250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EUR 9.8M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3108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at EUR 3K/mo ARPU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100584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premium hotel generating EUR 15-70M in revenue has a marketing department of one person who speaks two languages.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37% of travelers now use AI to plan trips. 55% of AI hotel citations come from OTAs, not from the hotel.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vertical AI platform exists for this segment.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1,632 Synthetic Buyer Interviews Say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8BA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272 hotels x 2 roles x 3 replications, adversarial + judge pass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1463040"/>
          </a:xfrm>
          <a:prstGeom prst="rect">
            <a:avLst/>
          </a:prstGeom>
          <a:solidFill>
            <a:srgbClr val="162236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5544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37%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at CHF 3K/mo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3840480" cy="1463040"/>
          </a:xfrm>
          <a:prstGeom prst="rect">
            <a:avLst/>
          </a:prstGeom>
          <a:solidFill>
            <a:srgbClr val="162236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5544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846320" y="22860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at CHF 5K/mo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3840480" cy="1463040"/>
          </a:xfrm>
          <a:prstGeom prst="rect">
            <a:avLst/>
          </a:prstGeom>
          <a:solidFill>
            <a:srgbClr val="162236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29184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79%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40080" y="40233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no-PMS-integration is a deal killer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3108960"/>
            <a:ext cx="3840480" cy="1463040"/>
          </a:xfrm>
          <a:prstGeom prst="rect">
            <a:avLst/>
          </a:prstGeom>
          <a:solidFill>
            <a:srgbClr val="162236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329184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#1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846320" y="40233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need: PMS/CRM integration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10 Target Hotels</a:t>
            </a:r>
            <a:endParaRPr lang="en-US" sz="3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347472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1371600"/>
                <a:gridCol w="640080"/>
                <a:gridCol w="731520"/>
                <a:gridCol w="914400"/>
                <a:gridCol w="82296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(CHF)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Buy@3K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Hotel Schweizerhof Zürich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Zürich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Hotel Suvretta House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St. Moritz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Victoria-Jungfrau Grand Hotel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Interlaken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Hotel Bellevue Palace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Hotel Schweizerhof Bern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AlpenGold Davos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Beau-Rivage Palace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Lausanne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Hotel Les Trois Rois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Hôtel Métropole Genève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Genève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Hotel Schweizerhof Luzern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Luzern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4A85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Real hotels. Real data. Real signals.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Model Canvas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60320" cy="1645920"/>
          </a:xfrm>
          <a:prstGeom prst="rect">
            <a:avLst/>
          </a:prstGeom>
          <a:solidFill>
            <a:srgbClr val="162236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097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Partners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2286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HotellerieSuisse, PMS vendors (Mews, Canary), Tourism boards, JAKALA network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46120" y="1005840"/>
            <a:ext cx="2560320" cy="1645920"/>
          </a:xfrm>
          <a:prstGeom prst="rect">
            <a:avLst/>
          </a:prstGeom>
          <a:solidFill>
            <a:srgbClr val="162236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097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Activities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463040"/>
            <a:ext cx="2286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platform dev, Hotel onboarding, Data pipeline ops, Synthetic research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035040" y="1005840"/>
            <a:ext cx="2560320" cy="1645920"/>
          </a:xfrm>
          <a:prstGeom prst="rect">
            <a:avLst/>
          </a:prstGeom>
          <a:solidFill>
            <a:srgbClr val="162236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72200" y="1097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 Proposition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72200" y="1463040"/>
            <a:ext cx="2286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7-layer AI stack replacing 4-5 point solutions. One platform: read the market, understand guests, draft content.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2560320" cy="1645920"/>
          </a:xfrm>
          <a:prstGeom prst="rect">
            <a:avLst/>
          </a:prstGeom>
          <a:solidFill>
            <a:srgbClr val="162236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9260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Customer Segments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3291840"/>
            <a:ext cx="2286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 4-5 star independents, Small luxury chains, Commercial directors + GMs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46120" y="2834640"/>
            <a:ext cx="2560320" cy="1645920"/>
          </a:xfrm>
          <a:prstGeom prst="rect">
            <a:avLst/>
          </a:prstGeom>
          <a:solidFill>
            <a:srgbClr val="162236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29260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Revenue Streams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83280" y="3291840"/>
            <a:ext cx="2286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EUR 1-5K/mo per property, Onboarding EUR 3-5K, Group rollout deals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35040" y="2834640"/>
            <a:ext cx="2560320" cy="1645920"/>
          </a:xfrm>
          <a:prstGeom prst="rect">
            <a:avLst/>
          </a:prstGeom>
          <a:solidFill>
            <a:srgbClr val="162236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72200" y="29260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Channels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172200" y="3291840"/>
            <a:ext cx="2286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(Amedeo/Corsaro network), Association partnerships, Events + conferences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663440"/>
            <a:ext cx="2560320" cy="1645920"/>
          </a:xfrm>
          <a:prstGeom prst="rect">
            <a:avLst/>
          </a:prstGeom>
          <a:solidFill>
            <a:srgbClr val="162236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47548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 Structure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" y="5120640"/>
            <a:ext cx="2286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 EUR 15-50/hotel/mo, Team (founder only Y1), Sales travel + events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7-Layer AI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005840"/>
            <a:ext cx="7772400" cy="457200"/>
          </a:xfrm>
          <a:prstGeom prst="rect">
            <a:avLst/>
          </a:prstGeom>
          <a:solidFill>
            <a:srgbClr val="1A3A52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051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Market Intelligence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474720" y="1051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 set pricing, events, booking windows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14400" y="1554480"/>
            <a:ext cx="7772400" cy="457200"/>
          </a:xfrm>
          <a:prstGeom prst="rect">
            <a:avLst/>
          </a:prstGeom>
          <a:solidFill>
            <a:srgbClr val="1D4460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1600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Voice of Customer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74720" y="1600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across 6 languages, 4 platforms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2103120"/>
            <a:ext cx="7772400" cy="457200"/>
          </a:xfrm>
          <a:prstGeom prst="rect">
            <a:avLst/>
          </a:prstGeom>
          <a:solidFill>
            <a:srgbClr val="204E6E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1488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Persona &amp; Intent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0" y="21488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books, why, what they expect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" y="2651760"/>
            <a:ext cx="7772400" cy="457200"/>
          </a:xfrm>
          <a:prstGeom prst="rect">
            <a:avLst/>
          </a:prstGeom>
          <a:solidFill>
            <a:srgbClr val="23587C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Competitive Reading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74720" y="2697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hotel vs. comp set, through guest eyes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3200400"/>
            <a:ext cx="7772400" cy="457200"/>
          </a:xfrm>
          <a:prstGeom prst="rect">
            <a:avLst/>
          </a:prstGeom>
          <a:solidFill>
            <a:srgbClr val="26628A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246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AI Discovery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74720" y="3246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ChatGPT/Gemini/Perplexity see you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4400" y="3749040"/>
            <a:ext cx="7772400" cy="457200"/>
          </a:xfrm>
          <a:prstGeom prst="rect">
            <a:avLst/>
          </a:prstGeom>
          <a:solidFill>
            <a:srgbClr val="296C98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3794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 Decision Engine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74720" y="3794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matters this month, ranked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14400" y="4297680"/>
            <a:ext cx="7772400" cy="457200"/>
          </a:xfrm>
          <a:prstGeom prst="rect">
            <a:avLst/>
          </a:prstGeom>
          <a:solidFill>
            <a:srgbClr val="2C76A6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4343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 Content Engine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74720" y="43434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Pages, campaigns, multilingual assets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A8BA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AI reads, analyzes, decides, drafts. The human reviews, adjusts, approves, publishes.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 Economics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097280"/>
          </a:xfrm>
          <a:prstGeom prst="rect">
            <a:avLst/>
          </a:prstGeom>
          <a:solidFill>
            <a:srgbClr val="162236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pricing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 2,000/mo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91840" y="1097280"/>
            <a:ext cx="2560320" cy="1097280"/>
          </a:xfrm>
          <a:prstGeom prst="rect">
            <a:avLst/>
          </a:prstGeom>
          <a:solidFill>
            <a:srgbClr val="162236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1840" y="1234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PoV tier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1840" y="15544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 1-1.5K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1097280"/>
            <a:ext cx="2560320" cy="1097280"/>
          </a:xfrm>
          <a:prstGeom prst="rect">
            <a:avLst/>
          </a:prstGeom>
          <a:solidFill>
            <a:srgbClr val="162236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1234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Gross Margin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0" y="15544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97%+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2560320" cy="1097280"/>
          </a:xfrm>
          <a:prstGeom prst="rect">
            <a:avLst/>
          </a:prstGeom>
          <a:solidFill>
            <a:srgbClr val="162236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060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Monthly burn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9260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8,850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91840" y="2468880"/>
            <a:ext cx="2560320" cy="1097280"/>
          </a:xfrm>
          <a:prstGeom prst="rect">
            <a:avLst/>
          </a:prstGeom>
          <a:solidFill>
            <a:srgbClr val="162236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6060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Breakeven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91840" y="29260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5-7 hotels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26480" y="2468880"/>
            <a:ext cx="2560320" cy="1097280"/>
          </a:xfrm>
          <a:prstGeom prst="rect">
            <a:avLst/>
          </a:prstGeom>
          <a:solidFill>
            <a:srgbClr val="162236"/>
          </a:solidFill>
          <a:ln w="12700">
            <a:solidFill>
              <a:srgbClr val="7A8B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26060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Seed need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126480" y="29260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120-150K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logo churn: 5-10%. COGS per hotel: EUR 15-50/mo (LLM inference + data).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4A85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Breakeven at 5-7 hotels. At 10 hotels: CHF 9,350/mo surplus. At 20 hotels: CHF 27,550/mo.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Operator-Seeded Scenario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8BA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CHF 120-150K seed. No institutional VC. 10,000 Monte Carlo simulations.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1325880"/>
          <a:ext cx="6400800" cy="2560320"/>
        </p:xfrm>
        <a:graphic>
          <a:graphicData uri="http://schemas.openxmlformats.org/drawingml/2006/table">
            <a:tbl>
              <a:tblPr/>
              <a:tblGrid>
                <a:gridCol w="1600200"/>
                <a:gridCol w="1600200"/>
                <a:gridCol w="1600200"/>
                <a:gridCol w="1600200"/>
              </a:tblGrid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Hotels M12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Hotels M18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Hotels M36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 M36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3.11M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3.99M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4.94M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 M60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7.05M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9.21M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11.85M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M60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34.50M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45.86M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60.17M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Follow-On Angel Scenario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8BA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Same seed + milestone-based angel tranche. CHF 150-300K follow-on.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1325880"/>
          <a:ext cx="6400800" cy="2560320"/>
        </p:xfrm>
        <a:graphic>
          <a:graphicData uri="http://schemas.openxmlformats.org/drawingml/2006/table">
            <a:tbl>
              <a:tblPr/>
              <a:tblGrid>
                <a:gridCol w="1600200"/>
                <a:gridCol w="1600200"/>
                <a:gridCol w="1600200"/>
                <a:gridCol w="1600200"/>
              </a:tblGrid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Hotels M12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Hotels M18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Hotels M36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 M36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4.24M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5.33M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6.63M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 M60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10.21M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13.22M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17.12M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M60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50.69M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67.39M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88.41M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A8B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4A85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3.1% probability of EUR 100M+ exit at month 60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 commit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Salary: CHF 4K/mo (wife earns CHF 130K, this works)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Escalation: 10 hotels = CHF 8K, 25 = CHF 12K, 50 = CHF 15K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 MRR revenue share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Equity: contribution-based, targeting 38%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 AG in Zug (11.8% corporate tax)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46320" y="10058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 need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846320" y="141732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CHF 120-150K seed capital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Target access: 3-4 warm intros/month to hotel chains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60-day pilot commitment with one chain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A8BA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Capital without clients is just a slower death. Your network IS the GTM.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2560320" cy="1097280"/>
          </a:xfrm>
          <a:prstGeom prst="rect">
            <a:avLst/>
          </a:prstGeom>
          <a:solidFill>
            <a:srgbClr val="162236"/>
          </a:solidFill>
          <a:ln w="25400">
            <a:solidFill>
              <a:srgbClr val="D4A85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77240" y="1645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MVP + existing team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566160" y="1188720"/>
            <a:ext cx="2560320" cy="1097280"/>
          </a:xfrm>
          <a:prstGeom prst="rect">
            <a:avLst/>
          </a:prstGeom>
          <a:solidFill>
            <a:srgbClr val="162236"/>
          </a:solidFill>
          <a:ln w="25400">
            <a:solidFill>
              <a:srgbClr val="D4A85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66160" y="12801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 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703320" y="1645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pilot hotel onboarding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92240" y="1188720"/>
            <a:ext cx="2560320" cy="1097280"/>
          </a:xfrm>
          <a:prstGeom prst="rect">
            <a:avLst/>
          </a:prstGeom>
          <a:solidFill>
            <a:srgbClr val="162236"/>
          </a:solidFill>
          <a:ln w="25400">
            <a:solidFill>
              <a:srgbClr val="D4A85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2801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 3-4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29400" y="1645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 + iterate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incorporiamo? Quando incontro la catena pilota?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TERCIER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tercier.ai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A8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 sono pronto. Ci sono.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2026-03-23T09:24:34Z</dcterms:created>
  <dcterms:modified xsi:type="dcterms:W3CDTF">2026-03-23T09:24:34Z</dcterms:modified>
</cp:coreProperties>
</file>