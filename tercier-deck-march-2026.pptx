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TERCIER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 AI for Premium Hospitality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tercier.ai | March 22, 2026 | Marco Di Cesare, Founder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Days of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645920" cy="493776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2,069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322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raw HotellerieSuisse rows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40280" y="1097280"/>
            <a:ext cx="1645920" cy="493776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09728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40280" y="16322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selected dossiers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1097280"/>
            <a:ext cx="1645920" cy="493776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09728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23360" y="16322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ICP hotels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097280"/>
            <a:ext cx="1645920" cy="493776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09728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1,632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806440" y="16322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survey simulations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1945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financial model: 10,000 simulations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with current pricing and funding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Tax-optimized Zug AG structure (11.8% corporate tax)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tercier.ai secured, tercier.com available (CHF 1,200)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4A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2,295 authored commits across 6 repos in 82 days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Swiss hotels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4-5 star, ADR &gt;= CHF 250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 9.8M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 EUR 3K/mo ARPU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hotel generating EUR 15-70M in revenue has a marketing department of one person who speaks two languages.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of travelers now use AI to plan trips. 55% of AI hotel citations come from OTAs, not from the hotel.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vertical AI platform exists for this segment.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1,632 Synthetic Buyer Interviews Say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B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272 hotels x 2 roles x 3 replications, adversarial + judge 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146304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at CHF 3K/mo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840480" cy="146304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554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8463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at CHF 5K/mo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840480" cy="146304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no-PMS-integration is a deal killer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3840480" cy="146304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2918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84632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need: PMS/CRM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 Target Hotels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47472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1371600"/>
                <a:gridCol w="640080"/>
                <a:gridCol w="731520"/>
                <a:gridCol w="91440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 (CHF)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Buy@3K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Schweizerhof Zürich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Zürich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Suvretta House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Moritz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Victoria-Jungfrau Grand Hotel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Interlaken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Bellevue Palace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Schweizerhof Bern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AlpenGold Davos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Beau-Rivage Palace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Lausanne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Hotel Les Trois Rois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Hôtel Métropole Genève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Genève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Schweizerhof Luzern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Luzern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 hotels. Real data. Real signals.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 Canvas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64592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Partners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HotellerieSuisse, PMS vendors (Mews, Canary), Tourism boards, JAKALA network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1005840"/>
            <a:ext cx="2560320" cy="164592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Activities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4630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dev, Hotel onboarding, Data pipeline ops, Synthetic research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560320" cy="164592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14630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AI stack replacing 4-5 point solutions. One platform: read the market, understand guests, draft content.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560320" cy="164592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Segments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2918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4-5 star independents, Small luxury chains, Commercial directors + GMs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2834640"/>
            <a:ext cx="2560320" cy="164592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Streams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2918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EUR 1-5K/mo per property, Onboarding EUR 3-5K, Group rollout deals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834640"/>
            <a:ext cx="2560320" cy="164592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32918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(Amedeo/Corsaro network), Association partnerships, Events + conferences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2560320" cy="164592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754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Structure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51206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 EUR 15-50/hotel/mo, Team (founder only Y1), Sales travel + events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7-Layer AI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solidFill>
            <a:srgbClr val="1A3A52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Market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set pricing, events, booking windows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7772400" cy="457200"/>
          </a:xfrm>
          <a:prstGeom prst="rect">
            <a:avLst/>
          </a:prstGeom>
          <a:solidFill>
            <a:srgbClr val="1D4460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Voice of Customer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across 6 languages, 4 platforms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103120"/>
            <a:ext cx="7772400" cy="457200"/>
          </a:xfrm>
          <a:prstGeom prst="rect">
            <a:avLst/>
          </a:prstGeom>
          <a:solidFill>
            <a:srgbClr val="204E6E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Persona &amp; Intent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books, why, what they expect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7772400" cy="457200"/>
          </a:xfrm>
          <a:prstGeom prst="rect">
            <a:avLst/>
          </a:prstGeom>
          <a:solidFill>
            <a:srgbClr val="23587C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Competitive Reading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hotel vs. comp set, through guest eyes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200400"/>
            <a:ext cx="7772400" cy="457200"/>
          </a:xfrm>
          <a:prstGeom prst="rect">
            <a:avLst/>
          </a:prstGeom>
          <a:solidFill>
            <a:srgbClr val="26628A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AI Discovery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ChatGPT/Gemini/Perplexity see you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749040"/>
            <a:ext cx="7772400" cy="457200"/>
          </a:xfrm>
          <a:prstGeom prst="rect">
            <a:avLst/>
          </a:prstGeom>
          <a:solidFill>
            <a:srgbClr val="296C98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Decision Engine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this month, ranked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4297680"/>
            <a:ext cx="7772400" cy="457200"/>
          </a:xfrm>
          <a:prstGeom prst="rect">
            <a:avLst/>
          </a:prstGeom>
          <a:solidFill>
            <a:srgbClr val="2C76A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343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Content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4343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campaigns, multilingual assets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8B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AI reads, analyzes, decides, drafts. The human reviews, adjusts, approves, publishes.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Economics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09728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pricing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2,000/mo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109728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PoV tier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1-1.5K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109728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97%+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2560320" cy="109728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burn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8,850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2468880"/>
            <a:ext cx="2560320" cy="109728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Breakeven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hotels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2468880"/>
            <a:ext cx="2560320" cy="1097280"/>
          </a:xfrm>
          <a:prstGeom prst="rect">
            <a:avLst/>
          </a:prstGeom>
          <a:solidFill>
            <a:srgbClr val="162236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need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120-150K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logo churn: 5-10%. COGS per hotel: EUR 15-50/mo (LLM inference + data).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Breakeven at 5-7 hotels. At 10 hotels: CHF 9,350/mo surplus. At 20 hotels: CHF 27,550/mo.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Operator-Seeded Scenario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B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CHF 120-150K seed. No institutional VC. 10,000 Monte Carlo simulations.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25880"/>
          <a:ext cx="6400800" cy="256032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Hotels M12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Hotels M18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Hotels M36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M36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3.11M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3.99M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4.94M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M60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7.05M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9.21M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11.85M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M60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34.50M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45.86M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60.17M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Follow-On Angel Scenario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B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Same seed + milestone-based angel tranche. CHF 150-300K follow-on.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25880"/>
          <a:ext cx="6400800" cy="256032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Hotels M12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Hotels M18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Hotels M36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M36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4.24M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5.33M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6.63M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M60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10.21M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13.22M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17.12M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M60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50.69M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67.39M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88.41M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8B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3.1% probability of EUR 100M+ exit at month 60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commit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CHF 4K/mo to start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Escalation: 10 hotels = CHF 8K, 25 = CHF 12K, 50 = CHF 15K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operator commitment from day 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company setup: burn stays disciplined until revenue scales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AG in Zug (11.8% corporate tax)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need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CHF 120-150K seed capital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Target access: 3-4 warm intros/month to hotel chains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60-day pilot commitment with one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8B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Capital without clients is just a slower death. Your network IS the GTM.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1097280"/>
          </a:xfrm>
          <a:prstGeom prst="rect">
            <a:avLst/>
          </a:prstGeom>
          <a:solidFill>
            <a:srgbClr val="162236"/>
          </a:solidFill>
          <a:ln w="25400">
            <a:solidFill>
              <a:srgbClr val="D4A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MVP + existing team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66160" y="1188720"/>
            <a:ext cx="2560320" cy="1097280"/>
          </a:xfrm>
          <a:prstGeom prst="rect">
            <a:avLst/>
          </a:prstGeom>
          <a:solidFill>
            <a:srgbClr val="162236"/>
          </a:solidFill>
          <a:ln w="2540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0332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pilot hotel onboarding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1188720"/>
            <a:ext cx="2560320" cy="1097280"/>
          </a:xfrm>
          <a:prstGeom prst="rect">
            <a:avLst/>
          </a:prstGeom>
          <a:solidFill>
            <a:srgbClr val="162236"/>
          </a:solidFill>
          <a:ln w="25400">
            <a:solidFill>
              <a:srgbClr val="D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3-4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+ iterate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incorporiamo? Quando incontro la catena pilota?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TERCIER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tercier.ai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 sono pronto. Ci sono.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2026-03-23T10:23:01Z</dcterms:created>
  <dcterms:modified xsi:type="dcterms:W3CDTF">2026-03-23T10:23:01Z</dcterms:modified>
</cp:coreProperties>
</file>